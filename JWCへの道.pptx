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61" r:id="rId3"/>
    <p:sldId id="257" r:id="rId4"/>
    <p:sldId id="311" r:id="rId5"/>
    <p:sldId id="287" r:id="rId6"/>
    <p:sldId id="288" r:id="rId7"/>
    <p:sldId id="289" r:id="rId8"/>
    <p:sldId id="290" r:id="rId9"/>
    <p:sldId id="291" r:id="rId10"/>
    <p:sldId id="312" r:id="rId11"/>
    <p:sldId id="292" r:id="rId12"/>
    <p:sldId id="293" r:id="rId13"/>
    <p:sldId id="313" r:id="rId14"/>
    <p:sldId id="314" r:id="rId15"/>
    <p:sldId id="263" r:id="rId16"/>
    <p:sldId id="294" r:id="rId17"/>
    <p:sldId id="295" r:id="rId18"/>
    <p:sldId id="297" r:id="rId19"/>
    <p:sldId id="296" r:id="rId20"/>
    <p:sldId id="298" r:id="rId21"/>
    <p:sldId id="299" r:id="rId22"/>
    <p:sldId id="300" r:id="rId23"/>
    <p:sldId id="302" r:id="rId24"/>
    <p:sldId id="315" r:id="rId25"/>
    <p:sldId id="301" r:id="rId26"/>
    <p:sldId id="303" r:id="rId27"/>
    <p:sldId id="304" r:id="rId28"/>
    <p:sldId id="305" r:id="rId29"/>
    <p:sldId id="306" r:id="rId30"/>
    <p:sldId id="307" r:id="rId31"/>
    <p:sldId id="308" r:id="rId32"/>
    <p:sldId id="309" r:id="rId33"/>
    <p:sldId id="310" r:id="rId34"/>
    <p:sldId id="316" r:id="rId3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86" autoAdjust="0"/>
    <p:restoredTop sz="94614" autoAdjust="0"/>
  </p:normalViewPr>
  <p:slideViewPr>
    <p:cSldViewPr snapToGrid="0">
      <p:cViewPr varScale="1">
        <p:scale>
          <a:sx n="147" d="100"/>
          <a:sy n="147" d="100"/>
        </p:scale>
        <p:origin x="1720" y="20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ja-JP" alt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C77BA10-896D-4834-9242-9D6C84DAB17A}" type="datetime4">
              <a:rPr lang="ja-JP" altLang="en-US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2020年6月27日</a:t>
            </a:fld>
            <a:endParaRPr lang="en-US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ja-JP" alt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840BD58-3BFF-4EAF-BB8B-AC67FE801E47}" type="slidenum">
              <a:rPr lang="en-US" altLang="ja-JP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‹#›</a:t>
            </a:fld>
            <a:endParaRPr lang="ja-JP" alt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05943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30389980-3DE9-4702-8CE7-20043EFDAF6C}" type="datetime4">
              <a:rPr lang="ja-JP" altLang="en-US" smtClean="0"/>
              <a:pPr/>
              <a:t>2020年6月27日</a:t>
            </a:fld>
            <a:endParaRPr 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68322CDD-9D6C-4F63-9EC2-648226624108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510265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D444BD-A135-BA48-91DB-D3A94B79F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7701A2B-F8B6-0247-8DCA-D1ABF4979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A7D304-86F3-F047-8C8B-BF3E840DD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D3B2F-B41F-7942-990C-7D7FFD69CA5F}" type="datetimeFigureOut">
              <a:rPr kumimoji="1" lang="ja-JP" altLang="en-US" smtClean="0"/>
              <a:t>2020/6/27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872E23-705D-F648-AE31-065D21160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487525-C46B-9341-89C9-11164453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8EE82-CEDF-DA42-8547-6C9D07F67A1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長方形 7">
            <a:extLst>
              <a:ext uri="{FF2B5EF4-FFF2-40B4-BE49-F238E27FC236}">
                <a16:creationId xmlns:a16="http://schemas.microsoft.com/office/drawing/2014/main" id="{6EEF07FC-4B26-0845-9B6A-A27456BB2604}"/>
              </a:ext>
            </a:extLst>
          </p:cNvPr>
          <p:cNvSpPr/>
          <p:nvPr userDrawn="1"/>
        </p:nvSpPr>
        <p:spPr>
          <a:xfrm>
            <a:off x="0" y="5888736"/>
            <a:ext cx="12192000" cy="109728"/>
          </a:xfrm>
          <a:prstGeom prst="rect">
            <a:avLst/>
          </a:prstGeom>
          <a:ln>
            <a:noFill/>
          </a:ln>
          <a:effectLst>
            <a:outerShdw blurRad="25400" dist="25400" dir="54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6372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E19E9A-E284-0447-A739-3B3BA8B13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5BD3D5-B8D4-334D-B645-9C284A482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B57477-C47A-E54B-88C3-7CB302E48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293553-851E-E547-A56E-8321D9FE8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8E9FF9-218E-C540-9899-D4481C1DD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42938422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1E664E-D85E-0842-A134-DB17BFC0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6A6DE3-563D-8A47-A4AE-34AF0B500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87A73D-8C04-B948-A60C-FA1BF5459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5040AE-AB59-F54D-AEAD-659B2FD32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D469C0-C182-0F48-B1D7-ED75131D3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80528983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98E66D-BF04-0E4E-8C43-6DA0C53E5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9A5A49-6BAF-E646-B923-63B4C8BD0F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86B4BDB-6F96-494E-B75F-54A6F1DD2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2A7B09C-2EA1-CF46-B677-A87FBBA4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55C94B-393D-F042-9893-7D0FE5368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0DC901-8B1B-9942-A693-6C365CE8F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4864542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98431E-BF7F-B643-9732-C58E50B07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80530F-EDAE-A04A-959F-04FFB5916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FA9A27B-E8DA-2A43-9E6C-4E28C6495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2D4AFFD-EC12-9F4F-A66F-8E1CA65B7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1C73567-33DD-1446-B57A-4A8D3C1214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03C4587-5951-AE40-98EC-000C8348B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B8797D5-BA03-FD4F-9766-3645C482D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C2F01D1-340A-B848-9A18-8AC0AA21F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4439662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DDC320-87B3-9240-9F12-5A4E931D7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C328F43-1148-F640-A232-835EBF9EA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990A5E6-C7ED-974B-A5DA-1ED34A27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ja-JP" altLang="en-US" noProof="0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9B7DB38-D7EA-2E45-B784-6CE9E425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10921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E145497-DA82-9B4A-8975-6E631D37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BACD022-6274-D74C-807F-26568E95B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04A5FB-177C-3949-9977-281F0ED6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7872741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2AC5E6-D1F5-0741-9A95-8DA925002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60DF96-FDCC-2248-A0BA-3FF5430D4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F23B4F-43AB-CF42-854E-506F8AA7B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228205A-07EC-B04A-AFB2-986A6BD56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791BC3C-3F90-9244-8676-E2EAE0468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59A304-D1F0-714E-ABB0-C307AD847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4532606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B52ED7-D0B7-A94A-9D43-79CDE2D8B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940C5EC-53A1-774F-935B-8F3FA2472C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A69FE42-5383-7340-8BFF-A05FC3C16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56DDAC4-2F89-574F-AF28-91DF0C6EA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7C6BA52-8E5E-994C-9083-F26C763F3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A56643-7882-B841-88E7-2029D1D27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25914923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180A3-8BCB-6D4A-9484-CDA70E587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2F207EA-E990-C34F-9670-1E0C43D6D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3A9939-599B-A444-B4E6-0C6D97056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49BD4C-D028-7749-AD00-61C028088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1EAE97-38FC-E147-9A1F-D22088D6F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29321558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3B90592-6965-BD48-BBB2-B201EA57C7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4F35AD2-C676-624B-B883-6E1E60151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4BF2B8-E29D-F945-B061-FAE837F8B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0F5FA2-B055-0644-BFD0-1A4AAF7A9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E4A748-7D9F-BC45-9AB3-08EF79442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5905444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0FD5521-8A3B-8B41-BFDC-4B6A866B3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70B859-1202-AD48-8158-D8352800F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A2D54D-5D60-2C4B-84D5-1F47A4EBC9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C14571-F7CC-FD42-8F2C-7392466F0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45EF07-AB40-CB40-B618-13C37B4AE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7" name="長方形 7">
            <a:extLst>
              <a:ext uri="{FF2B5EF4-FFF2-40B4-BE49-F238E27FC236}">
                <a16:creationId xmlns:a16="http://schemas.microsoft.com/office/drawing/2014/main" id="{81498219-8C3B-FE4D-8C6C-D8803793612A}"/>
              </a:ext>
            </a:extLst>
          </p:cNvPr>
          <p:cNvSpPr/>
          <p:nvPr userDrawn="1"/>
        </p:nvSpPr>
        <p:spPr>
          <a:xfrm>
            <a:off x="0" y="6257036"/>
            <a:ext cx="12192000" cy="54864"/>
          </a:xfrm>
          <a:prstGeom prst="rect">
            <a:avLst/>
          </a:prstGeom>
          <a:ln>
            <a:noFill/>
          </a:ln>
          <a:effectLst>
            <a:innerShdw blurRad="25400" dist="12700" dir="16200000">
              <a:schemeClr val="accent1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4784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s://jwcranking.jimdofree.com/home/about-jwc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t.co/9zAaBMX5J6?amp=1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mah0rama.livedoor.blog/archives/22879018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cwar.info/league/leagueList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://mah0rama.livedoor.blog/archives/23086745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42E615-1863-FF40-9031-9AB0230D8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2818"/>
            <a:ext cx="9144000" cy="3181972"/>
          </a:xfrm>
        </p:spPr>
        <p:txBody>
          <a:bodyPr>
            <a:normAutofit/>
          </a:bodyPr>
          <a:lstStyle/>
          <a:p>
            <a:pPr algn="ctr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への道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for 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9" name="スライド番号プレースホルダー 3">
            <a:extLst>
              <a:ext uri="{FF2B5EF4-FFF2-40B4-BE49-F238E27FC236}">
                <a16:creationId xmlns:a16="http://schemas.microsoft.com/office/drawing/2014/main" id="{F96F847E-5434-C446-87EA-885B1EDE2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2999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CDE40D2-6BAF-7C40-8F95-FBE7B8D35330}"/>
              </a:ext>
            </a:extLst>
          </p:cNvPr>
          <p:cNvSpPr txBox="1"/>
          <p:nvPr/>
        </p:nvSpPr>
        <p:spPr>
          <a:xfrm>
            <a:off x="6724282" y="2203910"/>
            <a:ext cx="507125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作成者：</a:t>
            </a:r>
            <a:r>
              <a:rPr lang="en-US" altLang="ja-JP" sz="2800" dirty="0" err="1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bigtree</a:t>
            </a:r>
            <a:endParaRPr lang="en-US" altLang="ja-JP" sz="28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r>
              <a:rPr lang="ja-JP" altLang="en-US" sz="28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監修者：あっちゃん</a:t>
            </a:r>
            <a:endParaRPr lang="en-US" altLang="ja-JP" sz="28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r>
              <a:rPr lang="ja-JP" altLang="en-US" sz="28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所属クラン：</a:t>
            </a:r>
            <a:r>
              <a:rPr kumimoji="1" lang="ja-JP" altLang="en-US" sz="28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</a:t>
            </a:r>
            <a:endParaRPr kumimoji="1" lang="en-US" altLang="ja-JP" sz="28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r>
              <a:rPr lang="ja-JP" altLang="en-US" sz="28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作成日時：</a:t>
            </a:r>
            <a:r>
              <a:rPr lang="en-US" altLang="ja-JP" sz="28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2020/06/12</a:t>
            </a:r>
          </a:p>
          <a:p>
            <a:r>
              <a:rPr kumimoji="1" lang="ja-JP" altLang="en-US" sz="28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バージョン：</a:t>
            </a:r>
            <a:r>
              <a:rPr kumimoji="1" lang="en-US" altLang="ja-JP" sz="28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v1.04</a:t>
            </a:r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CA3B81E9-E444-F242-8117-9B0285565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9C1C5D4-2937-1A45-BD36-DF2ED8492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21" y="491705"/>
            <a:ext cx="5055079" cy="505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996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前提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アナウンス済みですが、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本部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は、以下方針へと舵を切りました。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ガチを目指す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段階的に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オンリー化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(2021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〜)</a:t>
            </a:r>
          </a:p>
          <a:p>
            <a:pPr marL="502920" indent="-457200"/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※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本部だけです。摩天楼や燎や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SAKURA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は違います。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2791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ガチ化の全体方針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例えば全壊ラッシュさんのような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en-US" altLang="ja-JP" sz="4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『</a:t>
            </a:r>
            <a:r>
              <a:rPr lang="ja-JP" altLang="en-US" sz="4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クラクラを楽しんだ先にある強さ</a:t>
            </a:r>
            <a:r>
              <a:rPr lang="en-US" altLang="ja-JP" sz="4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』</a:t>
            </a:r>
          </a:p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を目指していきたいです。</a:t>
            </a:r>
          </a:p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できるだけ良い雰囲気のままトップを目指すのが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最大の目標になります。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4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8524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ガチを目指すからには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明確な目標があると良いです。</a:t>
            </a:r>
            <a:endParaRPr lang="ja-JP" altLang="en-US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具体的は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JWC 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というガチリーグがあります。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そこを目指していきます。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5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1317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とは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日本の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TH12/TH11/TH10/TH9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を盛り上げるべく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Japan War Clan Ranking(JWC)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は生まれました。厳格な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FAIR PLAY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ルールのもとクラン間でのランキング作成・随時更新。日々のクラクラライフをより楽しむために、クランの大切な仲間達とのより強固な結束を、クランの垣根を超えたつながりを。そんなことを目指しています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en-US" altLang="ja-JP" dirty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https://jwcranking.jimdofree.com/home/about-jwc/</a:t>
            </a:r>
            <a:r>
              <a:rPr lang="en-US" altLang="ja-JP" dirty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r>
              <a:rPr lang="ja-JP" altLang="en-US" sz="200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より抜粋</a:t>
            </a:r>
            <a:endParaRPr lang="en-US" altLang="ja-JP" sz="200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6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pic>
        <p:nvPicPr>
          <p:cNvPr id="5" name="図 4" descr="テーブル, 座る, ケーキ, コンピュータ が含まれている画像&#10;&#10;自動的に生成された説明">
            <a:extLst>
              <a:ext uri="{FF2B5EF4-FFF2-40B4-BE49-F238E27FC236}">
                <a16:creationId xmlns:a16="http://schemas.microsoft.com/office/drawing/2014/main" id="{7059D166-522E-1F49-9915-4422E9E9B2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413" y="4611869"/>
            <a:ext cx="2782387" cy="15650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5752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で活躍されているクランさんたち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8575"/>
            <a:ext cx="7326087" cy="4588387"/>
          </a:xfrm>
        </p:spPr>
        <p:txBody>
          <a:bodyPr>
            <a:normAutofit/>
          </a:bodyPr>
          <a:lstStyle/>
          <a:p>
            <a:pPr marL="388620" indent="-3429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ZERO FAMILY</a:t>
            </a:r>
          </a:p>
          <a:p>
            <a:pPr marL="388620" indent="-3429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クラクラチャンネル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88620" indent="-3429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blaze JP</a:t>
            </a:r>
          </a:p>
          <a:p>
            <a:pPr marL="388620" indent="-3429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全壊ラッシュ摩天楼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88620" indent="-3429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★ ★ ★ Ｇ・Ｓ ★ ★ ★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88620" indent="-3429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MIKOTO</a:t>
            </a:r>
          </a:p>
          <a:p>
            <a:pPr marL="388620" indent="-3429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感謝。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88620" indent="-3429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群馬帝国遠征軍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うん、、、強いところばっかですね・・・</a:t>
            </a:r>
            <a:endParaRPr lang="en-US" altLang="ja-JP" sz="20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7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FD9D586C-D920-D74C-AA64-3E93944455F1}"/>
              </a:ext>
            </a:extLst>
          </p:cNvPr>
          <p:cNvSpPr txBox="1">
            <a:spLocks/>
          </p:cNvSpPr>
          <p:nvPr/>
        </p:nvSpPr>
        <p:spPr>
          <a:xfrm>
            <a:off x="6096000" y="1588573"/>
            <a:ext cx="5257800" cy="4588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8620" indent="-342900"/>
            <a:r>
              <a:rPr lang="en-US" altLang="ja-JP" dirty="0" err="1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GaihaziBomber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J</a:t>
            </a:r>
          </a:p>
          <a:p>
            <a:pPr marL="388620" indent="-3429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 COMPLETER</a:t>
            </a:r>
          </a:p>
          <a:p>
            <a:pPr marL="388620" indent="-3429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resurrection</a:t>
            </a:r>
          </a:p>
          <a:p>
            <a:pPr marL="388620" indent="-342900"/>
            <a:r>
              <a:rPr lang="en-US" altLang="ja-JP" dirty="0" err="1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Novelbright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388620" indent="-3429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TH0Elite(JPN)</a:t>
            </a:r>
          </a:p>
          <a:p>
            <a:pPr marL="388620" indent="-342900"/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※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敬称略、順不同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40694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ルール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altLang="ja-JP" dirty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https://t.co/9zAaBMX5J6?amp=1</a:t>
            </a:r>
            <a:endParaRPr lang="en-US" altLang="ja-JP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endParaRPr lang="en-US" altLang="ja-JP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【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要点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】</a:t>
            </a: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メンバー選出は普段から所属しているメンバー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（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戦のみ参加の助っ人は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NG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）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１人１垢、共有垢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NG</a:t>
            </a: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同リーグの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参加クランに重複所属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NG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（シーズン中は離れる）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10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人以上の対戦ができるクラン</a:t>
            </a:r>
          </a:p>
          <a:p>
            <a:pPr marL="45720" indent="0">
              <a:buNone/>
            </a:pPr>
            <a:endParaRPr lang="en-US" altLang="ja-JP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8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8839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リーグ構造</a:t>
            </a:r>
            <a:r>
              <a:rPr kumimoji="1"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超ざっくり</a:t>
            </a:r>
            <a:r>
              <a:rPr kumimoji="1"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9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6" name="三角形 5">
            <a:extLst>
              <a:ext uri="{FF2B5EF4-FFF2-40B4-BE49-F238E27FC236}">
                <a16:creationId xmlns:a16="http://schemas.microsoft.com/office/drawing/2014/main" id="{CC244E78-9009-D14E-BFD0-BD5637CA00FE}"/>
              </a:ext>
            </a:extLst>
          </p:cNvPr>
          <p:cNvSpPr/>
          <p:nvPr/>
        </p:nvSpPr>
        <p:spPr>
          <a:xfrm>
            <a:off x="1128413" y="1687376"/>
            <a:ext cx="4710032" cy="4060372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三角形 6">
            <a:extLst>
              <a:ext uri="{FF2B5EF4-FFF2-40B4-BE49-F238E27FC236}">
                <a16:creationId xmlns:a16="http://schemas.microsoft.com/office/drawing/2014/main" id="{A3EAA073-1518-134B-9D38-30A5B9B5AE90}"/>
              </a:ext>
            </a:extLst>
          </p:cNvPr>
          <p:cNvSpPr/>
          <p:nvPr/>
        </p:nvSpPr>
        <p:spPr>
          <a:xfrm>
            <a:off x="1797667" y="1681888"/>
            <a:ext cx="3371524" cy="2906486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F4DADB86-000C-1244-9924-FE51C035DF4F}"/>
              </a:ext>
            </a:extLst>
          </p:cNvPr>
          <p:cNvSpPr/>
          <p:nvPr/>
        </p:nvSpPr>
        <p:spPr>
          <a:xfrm>
            <a:off x="2460743" y="1665749"/>
            <a:ext cx="2045372" cy="1763251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9A46AC6-055C-AB46-8395-2FB62C891F08}"/>
              </a:ext>
            </a:extLst>
          </p:cNvPr>
          <p:cNvSpPr txBox="1"/>
          <p:nvPr/>
        </p:nvSpPr>
        <p:spPr>
          <a:xfrm>
            <a:off x="3210758" y="2547374"/>
            <a:ext cx="652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</a:t>
            </a:r>
            <a:r>
              <a:rPr kumimoji="1"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１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37A4C55-EF4C-2543-BC1A-833DAF007019}"/>
              </a:ext>
            </a:extLst>
          </p:cNvPr>
          <p:cNvSpPr txBox="1"/>
          <p:nvPr/>
        </p:nvSpPr>
        <p:spPr>
          <a:xfrm>
            <a:off x="3210758" y="3817478"/>
            <a:ext cx="652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</a:t>
            </a:r>
            <a:r>
              <a:rPr kumimoji="1"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２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71FF9D4-BBF0-4744-9E93-17AEE22BC953}"/>
              </a:ext>
            </a:extLst>
          </p:cNvPr>
          <p:cNvSpPr txBox="1"/>
          <p:nvPr/>
        </p:nvSpPr>
        <p:spPr>
          <a:xfrm>
            <a:off x="3210758" y="5056100"/>
            <a:ext cx="652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３</a:t>
            </a:r>
            <a:endParaRPr kumimoji="1" lang="ja-JP" altLang="en-US" sz="240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F9288FE0-27CB-F44F-AA57-4EEE0F485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6666" y="2855543"/>
            <a:ext cx="6723670" cy="2335951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参加クランでの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部制のリーグ戦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【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Ｊ１、Ｊ２、Ｊ３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】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※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シーズン毎の結果に応じてリーグ昇格降格あり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※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リーグ途中抜けは不可</a:t>
            </a:r>
          </a:p>
          <a:p>
            <a:pPr marL="45720" indent="0">
              <a:buNone/>
            </a:pP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9497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の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部門だけを目指す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クラクラ界が成熟しすぎており、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ガチ勢の方々が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TH12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以下のカンストアカを所持している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ケースが多い。勝ち抜く難易度が高い。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そもそも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TH12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以下の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『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参加難易度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』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が高すぎる。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各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帯でサブ垢を止めさせるのが難しい。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上記理由から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部門に注力する。</a:t>
            </a:r>
          </a:p>
          <a:p>
            <a:pPr marL="45720" indent="0">
              <a:buNone/>
            </a:pPr>
            <a:endParaRPr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10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8169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を目指すことのメリット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ガチメンバーのモチベーションアップ＆レベルアップ</a:t>
            </a: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結果を出せば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クランブランドの向上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 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で戦いたいガチの人がクランに加入してくれる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かもしれない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11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39837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もちろん、デメリットもあります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挑戦して残念な結果を出すとクラン印象が著しく悪くなる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まほらまの未来に関わります。絶対に避けなければならないです。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結果的にクランを潰すことになるかもしれません。慎重な行動が必要です。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ガチすぎてついてこれないメンバーが出てくるかもしれない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まほらまクラン体制のおかげでなんとかなります。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目的別の支部があるので崩壊には繋がらない。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→次のページで少し語ります。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12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3576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大事なこと。ガチは偉い？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ガチで楽しむことは素晴らしいことです。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ですが、偉いわけではありません。</a:t>
            </a:r>
            <a:br>
              <a:rPr lang="en-US" altLang="ja-JP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あくまでもクラクラの楽しみ方の１つでしかありません。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ファーミング、チャットでのコミュニケーション、クラン運営、ガチプレイ、全てにクラクラの楽しさがあります。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まほらまは、全てを大事にしていきます。</a:t>
            </a:r>
            <a:br>
              <a:rPr lang="en-US" altLang="ja-JP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皆さんも自分自身の楽しみ方を大事にしてください。</a:t>
            </a:r>
            <a:endParaRPr lang="en-US" altLang="ja-JP" dirty="0">
              <a:solidFill>
                <a:srgbClr val="FF000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endParaRPr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13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FEB772B0-5B7D-0A4E-A0E2-5EB0BD47A761}"/>
              </a:ext>
            </a:extLst>
          </p:cNvPr>
          <p:cNvSpPr txBox="1">
            <a:spLocks/>
          </p:cNvSpPr>
          <p:nvPr/>
        </p:nvSpPr>
        <p:spPr>
          <a:xfrm>
            <a:off x="3731643" y="5070771"/>
            <a:ext cx="4728713" cy="7175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None/>
            </a:pPr>
            <a:r>
              <a:rPr lang="ja-JP" altLang="en-US" sz="4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ガチ＞ゆるふわ</a:t>
            </a:r>
            <a:endParaRPr lang="en-US" altLang="ja-JP" sz="40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 algn="ctr">
              <a:buFont typeface="Arial" panose="020B0604020202020204" pitchFamily="34" charset="0"/>
              <a:buNone/>
            </a:pPr>
            <a:endParaRPr lang="en-US" altLang="ja-JP" sz="40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 algn="ctr"/>
            <a:endParaRPr lang="ja-JP" altLang="en-US" sz="400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A938B688-4B4B-1D44-BD6A-2BCF9D63806B}"/>
              </a:ext>
            </a:extLst>
          </p:cNvPr>
          <p:cNvCxnSpPr>
            <a:cxnSpLocks/>
          </p:cNvCxnSpPr>
          <p:nvPr/>
        </p:nvCxnSpPr>
        <p:spPr>
          <a:xfrm>
            <a:off x="4339086" y="4989823"/>
            <a:ext cx="3597216" cy="729490"/>
          </a:xfrm>
          <a:prstGeom prst="line">
            <a:avLst/>
          </a:prstGeom>
          <a:ln w="44450">
            <a:solidFill>
              <a:srgbClr val="FF0000">
                <a:alpha val="70000"/>
              </a:srgb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4FFC11AC-C8A7-6541-88BE-932D5FFBF431}"/>
              </a:ext>
            </a:extLst>
          </p:cNvPr>
          <p:cNvCxnSpPr>
            <a:cxnSpLocks/>
          </p:cNvCxnSpPr>
          <p:nvPr/>
        </p:nvCxnSpPr>
        <p:spPr>
          <a:xfrm flipV="1">
            <a:off x="4339086" y="4920812"/>
            <a:ext cx="3519578" cy="798501"/>
          </a:xfrm>
          <a:prstGeom prst="line">
            <a:avLst/>
          </a:prstGeom>
          <a:ln w="44450">
            <a:solidFill>
              <a:srgbClr val="FF0000">
                <a:alpha val="70000"/>
              </a:srgb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139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ガチとゆるふわの住み分け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まほらまでは様々な楽しみ方に応えれるように、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複数の支部を用意しています。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http://mah0rama.livedoor.blog/archives/22879018.html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摩天楼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</a:p>
          <a:p>
            <a:pPr marL="960120" lvl="1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燎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</a:p>
          <a:p>
            <a:pPr marL="960120" lvl="1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黎明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</a:p>
          <a:p>
            <a:pPr marL="960120" lvl="1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MAHORAMA_SAKURA</a:t>
            </a: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ガチ勢とゆるふわ勢を同じクランにしておくと、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必ず軋轢がでてきます。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説明するまでもないですね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自分自身に合った支部に所属しましょう。</a:t>
            </a:r>
            <a:endParaRPr lang="en-US" altLang="ja-JP" dirty="0">
              <a:solidFill>
                <a:srgbClr val="FF000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14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783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E27039-9568-144A-9E91-3B61FB565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87630"/>
            <a:ext cx="9144000" cy="3173122"/>
          </a:xfrm>
        </p:spPr>
        <p:txBody>
          <a:bodyPr>
            <a:normAutofit fontScale="90000"/>
          </a:bodyPr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以降、この資料は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を目指すことについて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記述したものになります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やっと本題に入れます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A60BD1-FA32-484F-807E-37BB2EC21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15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93706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目標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617220" indent="-571500"/>
            <a:r>
              <a:rPr lang="en-US" altLang="ja-JP" sz="4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 J1 </a:t>
            </a:r>
            <a:r>
              <a:rPr lang="ja-JP" altLang="en-US" sz="4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優勝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と、言いたいところですが一歩づつ行きましょう。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わかりやすい例えをすると、、、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J1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で優勝するには、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ジョーカーさんが２０人いるクランと対決して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勝つくらいの力が必要です。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長い道のりになります。</a:t>
            </a:r>
            <a:endParaRPr lang="ja-JP" altLang="en-US" strike="sngStrike">
              <a:solidFill>
                <a:schemeClr val="bg2">
                  <a:lumMod val="75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16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56123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目標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真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617220" indent="-571500"/>
            <a:r>
              <a:rPr lang="en-US" altLang="ja-JP" sz="4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 J3 </a:t>
            </a:r>
            <a:r>
              <a:rPr lang="ja-JP" altLang="en-US" sz="4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優勝</a:t>
            </a:r>
            <a:r>
              <a:rPr lang="en-US" altLang="ja-JP" sz="4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(J2</a:t>
            </a:r>
            <a:r>
              <a:rPr lang="ja-JP" altLang="en-US" sz="4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に上がる</a:t>
            </a:r>
            <a:r>
              <a:rPr lang="en-US" altLang="ja-JP" sz="4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※ 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正直、これでも十分に高い目標です！</a:t>
            </a:r>
            <a:endParaRPr lang="ja-JP" altLang="en-US" strike="sngStrike">
              <a:solidFill>
                <a:schemeClr val="bg2">
                  <a:lumMod val="75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17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682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E27039-9568-144A-9E91-3B61FB565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08216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 J3 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で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勝つために必要なこと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A60BD1-FA32-484F-807E-37BB2EC21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18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70351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メンバー集め：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カンスト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10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人以上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10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人いれば参加できますが・・・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メンバー負荷を考えると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15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人程度いた方が良いです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調子とかリアルを考慮して入れ替えれる体制が必要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最悪カンストでなくても良いですが、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かなりのハンディキャップを背負うことになります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19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8686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メンバー集め：各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リソースの分析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756"/>
            <a:ext cx="5321060" cy="869952"/>
          </a:xfrm>
          <a:solidFill>
            <a:schemeClr val="accent1">
              <a:lumMod val="60000"/>
              <a:lumOff val="40000"/>
            </a:schemeClr>
          </a:solidFill>
          <a:ln w="12700" cmpd="sng">
            <a:noFill/>
            <a:round/>
          </a:ln>
        </p:spPr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〜TH13〜</a:t>
            </a:r>
            <a:b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あっちゃん、きむきむ、らいらい、</a:t>
            </a:r>
            <a:b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コスモナウト、青酸カリ、</a:t>
            </a:r>
            <a:b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東方部隊</a:t>
            </a:r>
            <a: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魔王様、くい助、</a:t>
            </a:r>
            <a: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black-cherry)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20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8F322ABF-3DCC-3B49-A297-87C55AC9071F}"/>
              </a:ext>
            </a:extLst>
          </p:cNvPr>
          <p:cNvSpPr txBox="1">
            <a:spLocks/>
          </p:cNvSpPr>
          <p:nvPr/>
        </p:nvSpPr>
        <p:spPr>
          <a:xfrm>
            <a:off x="838200" y="2559004"/>
            <a:ext cx="5321060" cy="869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mpd="sng">
            <a:noFill/>
            <a:round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〜TH12〜</a:t>
            </a:r>
            <a:b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ゴドルフィン、</a:t>
            </a:r>
            <a: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OB</a:t>
            </a: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ハンター、</a:t>
            </a:r>
            <a:r>
              <a:rPr lang="en-US" altLang="ja-JP" sz="1400" dirty="0" err="1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Buono</a:t>
            </a: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、</a:t>
            </a:r>
            <a:b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孫悟飯、人</a:t>
            </a:r>
            <a: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7</a:t>
            </a: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2C727846-FA08-8842-9590-B50CAD9D78CE}"/>
              </a:ext>
            </a:extLst>
          </p:cNvPr>
          <p:cNvSpPr txBox="1">
            <a:spLocks/>
          </p:cNvSpPr>
          <p:nvPr/>
        </p:nvSpPr>
        <p:spPr>
          <a:xfrm>
            <a:off x="838200" y="3565252"/>
            <a:ext cx="5321060" cy="12482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round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〜TH11〜</a:t>
            </a:r>
            <a:b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HAMA</a:t>
            </a: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もんた、ガイ、テンペスト、サンチェッタ、</a:t>
            </a:r>
            <a:r>
              <a:rPr lang="en-US" altLang="ja-JP" sz="1400" dirty="0" err="1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bigtree</a:t>
            </a: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、</a:t>
            </a:r>
            <a:b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sz="1400" dirty="0" err="1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Pienta</a:t>
            </a: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、勇者マヨヒコ、闇の天使、える、麦茶、とら、</a:t>
            </a:r>
            <a:b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ゼロ、はなちゃん、</a:t>
            </a:r>
            <a: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TONY</a:t>
            </a: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、白虎、</a:t>
            </a:r>
            <a:r>
              <a:rPr lang="en-US" altLang="ja-JP" sz="1400" dirty="0" err="1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peachtea</a:t>
            </a: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、</a:t>
            </a:r>
            <a:b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spider</a:t>
            </a: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、零戦</a:t>
            </a:r>
            <a:endParaRPr lang="en-US" altLang="ja-JP" sz="1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413B7B36-D4A3-6A43-A259-B8FE7AFF2CCD}"/>
              </a:ext>
            </a:extLst>
          </p:cNvPr>
          <p:cNvSpPr txBox="1">
            <a:spLocks/>
          </p:cNvSpPr>
          <p:nvPr/>
        </p:nvSpPr>
        <p:spPr>
          <a:xfrm>
            <a:off x="352245" y="5891329"/>
            <a:ext cx="11487510" cy="7389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None/>
            </a:pPr>
            <a:r>
              <a:rPr lang="en-US" altLang="ja-JP" sz="18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2020/06/27</a:t>
            </a:r>
            <a:r>
              <a:rPr lang="ja-JP" altLang="en-US" sz="18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時点の本部状況から分析</a:t>
            </a:r>
            <a:r>
              <a:rPr lang="en-US" altLang="ja-JP" sz="18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18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情報間違ってたらごめんなさい</a:t>
            </a:r>
            <a:r>
              <a:rPr lang="en-US" altLang="ja-JP" sz="18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)&amp;</a:t>
            </a:r>
            <a:r>
              <a:rPr lang="ja-JP" altLang="en-US" sz="18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各支部あっちゃん名指し</a:t>
            </a:r>
            <a:endParaRPr lang="en-US" altLang="ja-JP" sz="18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3003745D-7C02-A44D-8038-63BAE0A9509C}"/>
              </a:ext>
            </a:extLst>
          </p:cNvPr>
          <p:cNvSpPr txBox="1">
            <a:spLocks/>
          </p:cNvSpPr>
          <p:nvPr/>
        </p:nvSpPr>
        <p:spPr>
          <a:xfrm>
            <a:off x="838200" y="4949836"/>
            <a:ext cx="5321060" cy="8576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mpd="sng">
            <a:noFill/>
            <a:round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None/>
            </a:pPr>
            <a: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〜TH10〜</a:t>
            </a:r>
            <a:b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りょー、</a:t>
            </a:r>
            <a: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Okina</a:t>
            </a: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、</a:t>
            </a:r>
            <a: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4TH</a:t>
            </a: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、チュン、にこ、</a:t>
            </a:r>
            <a:b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セボン、しなもん、ナスティア、朱雀、</a:t>
            </a:r>
            <a: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YOU-CO</a:t>
            </a: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、</a:t>
            </a:r>
            <a:b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若槻、かずきっく、</a:t>
            </a:r>
            <a: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sin</a:t>
            </a: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ちょうなカメ</a:t>
            </a:r>
            <a:endParaRPr lang="en-US" altLang="ja-JP" sz="1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19571E9-BFDC-A441-9E13-D424F6121A34}"/>
              </a:ext>
            </a:extLst>
          </p:cNvPr>
          <p:cNvSpPr txBox="1">
            <a:spLocks/>
          </p:cNvSpPr>
          <p:nvPr/>
        </p:nvSpPr>
        <p:spPr>
          <a:xfrm>
            <a:off x="9322279" y="4828228"/>
            <a:ext cx="2684253" cy="550444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mpd="sng">
            <a:noFill/>
            <a:round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ゲスト</a:t>
            </a:r>
            <a: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  <a:b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ジョーカー、まお、おっきぃ</a:t>
            </a:r>
            <a:endParaRPr lang="en-US" altLang="ja-JP" sz="1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1" name="右中かっこ 10">
            <a:extLst>
              <a:ext uri="{FF2B5EF4-FFF2-40B4-BE49-F238E27FC236}">
                <a16:creationId xmlns:a16="http://schemas.microsoft.com/office/drawing/2014/main" id="{D333BB93-6E71-4549-A46C-929410F222B7}"/>
              </a:ext>
            </a:extLst>
          </p:cNvPr>
          <p:cNvSpPr/>
          <p:nvPr/>
        </p:nvSpPr>
        <p:spPr>
          <a:xfrm>
            <a:off x="6297283" y="1552756"/>
            <a:ext cx="422694" cy="3260784"/>
          </a:xfrm>
          <a:prstGeom prst="rightBrace">
            <a:avLst>
              <a:gd name="adj1" fmla="val 8333"/>
              <a:gd name="adj2" fmla="val 15608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B315CA31-C773-6142-B63E-25291FEA0C7A}"/>
              </a:ext>
            </a:extLst>
          </p:cNvPr>
          <p:cNvSpPr txBox="1">
            <a:spLocks/>
          </p:cNvSpPr>
          <p:nvPr/>
        </p:nvSpPr>
        <p:spPr>
          <a:xfrm>
            <a:off x="6809834" y="1589146"/>
            <a:ext cx="4818573" cy="3097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既存メンバーで計算するならば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TH11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の人たちが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になるのを待って動き始める形でしょうか。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ゴールドパス前提で・・・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になる→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2021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カンスト→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2021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6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てな感じでしょうか？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※TH11</a:t>
            </a: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上がりたてのはなちゃんさんとかは</a:t>
            </a:r>
            <a:b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きついスケジュールかも・・・</a:t>
            </a:r>
            <a:endParaRPr lang="en-US" altLang="ja-JP" sz="1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4" name="右中かっこ 13">
            <a:extLst>
              <a:ext uri="{FF2B5EF4-FFF2-40B4-BE49-F238E27FC236}">
                <a16:creationId xmlns:a16="http://schemas.microsoft.com/office/drawing/2014/main" id="{9FEF5A58-3F31-C14C-B268-D724E7183E60}"/>
              </a:ext>
            </a:extLst>
          </p:cNvPr>
          <p:cNvSpPr/>
          <p:nvPr/>
        </p:nvSpPr>
        <p:spPr>
          <a:xfrm>
            <a:off x="6297283" y="4949836"/>
            <a:ext cx="422694" cy="857675"/>
          </a:xfrm>
          <a:prstGeom prst="rightBrace">
            <a:avLst>
              <a:gd name="adj1" fmla="val 8333"/>
              <a:gd name="adj2" fmla="val 38741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コンテンツ プレースホルダー 2">
            <a:extLst>
              <a:ext uri="{FF2B5EF4-FFF2-40B4-BE49-F238E27FC236}">
                <a16:creationId xmlns:a16="http://schemas.microsoft.com/office/drawing/2014/main" id="{978FE799-9736-354D-BC83-CB61B1650CBF}"/>
              </a:ext>
            </a:extLst>
          </p:cNvPr>
          <p:cNvSpPr txBox="1">
            <a:spLocks/>
          </p:cNvSpPr>
          <p:nvPr/>
        </p:nvSpPr>
        <p:spPr>
          <a:xfrm>
            <a:off x="6654560" y="5009174"/>
            <a:ext cx="2541198" cy="7389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もちろん</a:t>
            </a:r>
            <a: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TH10</a:t>
            </a: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の方々も</a:t>
            </a:r>
            <a:b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</a:t>
            </a:r>
            <a:r>
              <a:rPr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になったら合流です！</a:t>
            </a:r>
            <a:endParaRPr lang="en-US" altLang="ja-JP" sz="1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6" name="コンテンツ プレースホルダー 2">
            <a:extLst>
              <a:ext uri="{FF2B5EF4-FFF2-40B4-BE49-F238E27FC236}">
                <a16:creationId xmlns:a16="http://schemas.microsoft.com/office/drawing/2014/main" id="{6779D49F-539E-0E42-BC06-3BCEC3BD0611}"/>
              </a:ext>
            </a:extLst>
          </p:cNvPr>
          <p:cNvSpPr txBox="1">
            <a:spLocks/>
          </p:cNvSpPr>
          <p:nvPr/>
        </p:nvSpPr>
        <p:spPr>
          <a:xfrm>
            <a:off x="10420709" y="5559619"/>
            <a:ext cx="1712344" cy="330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r">
              <a:buNone/>
            </a:pP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敬称略、順不同</a:t>
            </a:r>
            <a:endParaRPr lang="en-US" altLang="ja-JP" sz="1600" dirty="0">
              <a:solidFill>
                <a:srgbClr val="C0000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6239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メンバー集め：東方さんメンバー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サラチスト３人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魔王様、くい助さん、黒桜さん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r>
              <a:rPr lang="ja-JP" altLang="en-US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まほらまメンバーとして</a:t>
            </a:r>
            <a:r>
              <a:rPr lang="en-US" altLang="ja-JP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に参加いただけるよう</a:t>
            </a:r>
            <a:br>
              <a:rPr lang="en-US" altLang="ja-JP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どんな手を使ってでも説得する</a:t>
            </a:r>
            <a:r>
              <a:rPr lang="en-US" altLang="ja-JP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あっちゃんが</a:t>
            </a:r>
            <a:r>
              <a:rPr lang="en-US" altLang="ja-JP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ダメだったら、、、その時、考えます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お願いです！手伝ってください！！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21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15509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メンバー集め：新規募集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今までどおりですね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22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27405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メンバー集め：ゲストの方々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ジョーカーさん、まおさん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ご本人の意思は尊重すること前提で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リーグ違ったら出れたりしないのかな？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例えばジョーカーさんの参戦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ジョーカーさんは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J1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です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ルール的に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OK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か確認する必要あり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ja-JP" altLang="en-US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→確認しました。ルール上</a:t>
            </a:r>
            <a:r>
              <a:rPr lang="en-US" altLang="ja-JP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NG</a:t>
            </a:r>
            <a:r>
              <a:rPr lang="ja-JP" altLang="en-US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です。</a:t>
            </a:r>
            <a:br>
              <a:rPr lang="en-US" altLang="ja-JP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</a:t>
            </a:r>
            <a:r>
              <a:rPr lang="en-US" altLang="ja-JP" dirty="0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JWC13</a:t>
            </a:r>
            <a:r>
              <a:rPr lang="ja-JP" altLang="en-US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内の重複は許されません。残念。</a:t>
            </a:r>
            <a:endParaRPr lang="en-US" altLang="ja-JP" dirty="0">
              <a:solidFill>
                <a:srgbClr val="FF000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23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9465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メンバー集め：あっちゃん本人について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ファーミングクランに定住する可能性が高い</a:t>
            </a: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あっちゃんの得意分野がガチ攻めではなく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『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運営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』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にあたるため、常にメンバーの補充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and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育成をし続けるのがチームにとって一番の利点になります</a:t>
            </a: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どうしても足りない序盤は参戦しますが、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早めに手を離れられるようにしないといけないと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思っています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24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87112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全壊打率４割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ガチ配置から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40%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の確率で全壊がとれること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  <a:hlinkClick r:id="rId2"/>
            </a:endParaRP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https://www.cocwar.info/league/leagueList/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J3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で優勝したクランの全壊率を参考にしました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逆に言うとクラン全体としてこの数値に近い値を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出せない限り参加しない方が良いです</a:t>
            </a: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また、その頃には環境が成熟してもっと高い数値を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ださないといけないかもしれません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25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77333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指揮官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負担が大きいです。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本当は対戦参加しないくらいの体制が良いのですが、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当分は無理でしょうね・・・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負担が大きいので戦略面＆戦術面を分けます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名指しすんませんが、以下を考えています。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戦略面→ゴドルフィンさん、くい助さん、魔王様、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OB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ハンターさん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戦術面→ゴドルフィンさんメイン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※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どちらにしてもゴドルフィンさんの負担は変わらない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26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161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プランニング文化、なぞり文化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クランとして全壊とれば良いので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必須となると思いますが、、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強制するまで徹底するとなぁ悩みどころですね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別個で考えます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27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2796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ガチ実戦経験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圧倒的に不足しています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ガチ戦は空気が変わってきます。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少しでも慣れておかねば本番で力を出せません。</a:t>
            </a: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幸運にもあっちゃんは顔が広いです。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オンリークランになった後は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積極的に練習試合を組んでいきます。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28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86378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経験者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やはり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経験者は強いです。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その舞台を経験しているってだけでも貴重な存在です。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２、３人いると心強いのです。</a:t>
            </a: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だれか入ってきてくれるといいのですが・・・</a:t>
            </a:r>
          </a:p>
          <a:p>
            <a:pPr marL="502920" indent="-457200"/>
            <a:r>
              <a:rPr lang="ja-JP" altLang="en-US" strike="sngStrike">
                <a:solidFill>
                  <a:schemeClr val="accent5">
                    <a:lumMod val="60000"/>
                    <a:lumOff val="4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ゴドルフィンさんか</a:t>
            </a:r>
            <a:r>
              <a:rPr lang="en-US" altLang="ja-JP" strike="sngStrike" dirty="0">
                <a:solidFill>
                  <a:schemeClr val="accent5">
                    <a:lumMod val="60000"/>
                    <a:lumOff val="4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OB</a:t>
            </a:r>
            <a:r>
              <a:rPr lang="ja-JP" altLang="en-US" strike="sngStrike">
                <a:solidFill>
                  <a:schemeClr val="accent5">
                    <a:lumMod val="60000"/>
                    <a:lumOff val="4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ハンターさんを１期間くらい</a:t>
            </a:r>
            <a:br>
              <a:rPr lang="en-US" altLang="ja-JP" strike="sngStrike" dirty="0">
                <a:solidFill>
                  <a:schemeClr val="accent5">
                    <a:lumMod val="60000"/>
                    <a:lumOff val="4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strike="sngStrike" dirty="0">
                <a:solidFill>
                  <a:schemeClr val="accent5">
                    <a:lumMod val="60000"/>
                    <a:lumOff val="4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 strike="sngStrike">
                <a:solidFill>
                  <a:schemeClr val="accent5">
                    <a:lumMod val="60000"/>
                    <a:lumOff val="4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参戦クランに修行移籍するのも良いと思います。</a:t>
            </a:r>
            <a:br>
              <a:rPr lang="en-US" altLang="ja-JP" strike="sngStrike" dirty="0">
                <a:solidFill>
                  <a:schemeClr val="accent5">
                    <a:lumMod val="60000"/>
                    <a:lumOff val="4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strike="sngStrike" dirty="0">
                <a:solidFill>
                  <a:schemeClr val="accent5">
                    <a:lumMod val="60000"/>
                    <a:lumOff val="4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(TH13</a:t>
            </a:r>
            <a:r>
              <a:rPr lang="ja-JP" altLang="en-US" strike="sngStrike">
                <a:solidFill>
                  <a:schemeClr val="accent5">
                    <a:lumMod val="60000"/>
                    <a:lumOff val="4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に早めに上がる人＆絶対にまほらまに戻って</a:t>
            </a:r>
            <a:br>
              <a:rPr lang="en-US" altLang="ja-JP" strike="sngStrike" dirty="0">
                <a:solidFill>
                  <a:schemeClr val="accent5">
                    <a:lumMod val="60000"/>
                    <a:lumOff val="4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trike="sngStrike">
                <a:solidFill>
                  <a:schemeClr val="accent5">
                    <a:lumMod val="60000"/>
                    <a:lumOff val="4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くる人＆中核になる人</a:t>
            </a:r>
            <a:r>
              <a:rPr lang="en-US" altLang="ja-JP" strike="sngStrike" dirty="0">
                <a:solidFill>
                  <a:schemeClr val="accent5">
                    <a:lumMod val="60000"/>
                    <a:lumOff val="4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 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当分は様子見します。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29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88256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各戦術のスペシャリスト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言うまでもありませんね。特定戦術一色だと危ないです。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バランスよく揃ってくれれば良いのですが。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合宿みたいなのはやるつもりです。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30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620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防衛大臣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サイトから配置持ってくるだけじゃダメなんでしょうね。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band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に配置作りの図書ルームを作って共有します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会長さん、ゴドさん、オワタさんがいけるはずです</a:t>
            </a:r>
          </a:p>
          <a:p>
            <a:pPr marL="502920" indent="-457200"/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31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7634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E27039-9568-144A-9E91-3B61FB565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08216"/>
            <a:ext cx="9144000" cy="2387600"/>
          </a:xfrm>
        </p:spPr>
        <p:txBody>
          <a:bodyPr>
            <a:normAutofit/>
          </a:bodyPr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スケジュール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A60BD1-FA32-484F-807E-37BB2EC21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32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92839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あくまでも目安です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囚われすぎるのは良くない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4679"/>
            <a:ext cx="10515600" cy="4132053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502920" indent="-457200"/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2020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5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月：まほらま本部、ガチ宣言 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済み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2020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6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月：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目指す宣言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クラン内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 (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済み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スケジュール感を共有して参加不参加の意思表示をしてもらう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戦いたい新規勢が入ってきてくれるといいなぁ</a:t>
            </a:r>
          </a:p>
          <a:p>
            <a:pPr marL="502920" indent="-457200"/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2021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月：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オンリー化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現在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TH11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の人たちが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になっている予定</a:t>
            </a:r>
            <a:b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このあたりから他クランとの練習試合を開始</a:t>
            </a:r>
          </a:p>
          <a:p>
            <a:pPr marL="502920" indent="-457200"/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2021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6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月：現在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TH11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の人たちが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TH13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カンストになっている予定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2021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6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月以降：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正式申し込み</a:t>
            </a:r>
            <a:endParaRPr lang="en-US" altLang="ja-JP" sz="24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33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6298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最後に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>
                <a:solidFill>
                  <a:srgbClr val="FF000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皆さん、絶対に無理はしないでください。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を目指すということは、それなりに負担になります。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疲れてしまった場合はすぐに逃げましょう。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http://mah0rama.livedoor.blog/archives/23086745.html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34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8435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RedLineBusiness_16x9">
      <a:dk1>
        <a:srgbClr val="514A40"/>
      </a:dk1>
      <a:lt1>
        <a:sysClr val="window" lastClr="FFFFFF"/>
      </a:lt1>
      <a:dk2>
        <a:srgbClr val="000000"/>
      </a:dk2>
      <a:lt2>
        <a:srgbClr val="F9F7F3"/>
      </a:lt2>
      <a:accent1>
        <a:srgbClr val="A85229"/>
      </a:accent1>
      <a:accent2>
        <a:srgbClr val="98916E"/>
      </a:accent2>
      <a:accent3>
        <a:srgbClr val="C9A645"/>
      </a:accent3>
      <a:accent4>
        <a:srgbClr val="76A7B2"/>
      </a:accent4>
      <a:accent5>
        <a:srgbClr val="82A670"/>
      </a:accent5>
      <a:accent6>
        <a:srgbClr val="896170"/>
      </a:accent6>
      <a:hlink>
        <a:srgbClr val="A85229"/>
      </a:hlink>
      <a:folHlink>
        <a:srgbClr val="98916E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RedLineBusiness_16x9">
      <a:dk1>
        <a:srgbClr val="514A40"/>
      </a:dk1>
      <a:lt1>
        <a:sysClr val="window" lastClr="FFFFFF"/>
      </a:lt1>
      <a:dk2>
        <a:srgbClr val="000000"/>
      </a:dk2>
      <a:lt2>
        <a:srgbClr val="F9F7F3"/>
      </a:lt2>
      <a:accent1>
        <a:srgbClr val="A85229"/>
      </a:accent1>
      <a:accent2>
        <a:srgbClr val="98916E"/>
      </a:accent2>
      <a:accent3>
        <a:srgbClr val="C9A645"/>
      </a:accent3>
      <a:accent4>
        <a:srgbClr val="76A7B2"/>
      </a:accent4>
      <a:accent5>
        <a:srgbClr val="82A670"/>
      </a:accent5>
      <a:accent6>
        <a:srgbClr val="896170"/>
      </a:accent6>
      <a:hlink>
        <a:srgbClr val="A85229"/>
      </a:hlink>
      <a:folHlink>
        <a:srgbClr val="98916E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1006</TotalTime>
  <Words>2069</Words>
  <Application>Microsoft Macintosh PowerPoint</Application>
  <PresentationFormat>ワイド画面</PresentationFormat>
  <Paragraphs>206</Paragraphs>
  <Slides>34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34</vt:i4>
      </vt:variant>
    </vt:vector>
  </HeadingPairs>
  <TitlesOfParts>
    <vt:vector size="40" baseType="lpstr">
      <vt:lpstr>Hiragino Maru Gothic Pro W4</vt:lpstr>
      <vt:lpstr>ＭＳ 明朝</vt:lpstr>
      <vt:lpstr>游ゴシック</vt:lpstr>
      <vt:lpstr>游ゴシック Light</vt:lpstr>
      <vt:lpstr>Arial</vt:lpstr>
      <vt:lpstr>Office テーマ</vt:lpstr>
      <vt:lpstr>JWCへの道 for まほらま </vt:lpstr>
      <vt:lpstr>PowerPoint プレゼンテーション</vt:lpstr>
      <vt:lpstr>前提</vt:lpstr>
      <vt:lpstr>ガチ化の全体方針</vt:lpstr>
      <vt:lpstr>ガチを目指すからには</vt:lpstr>
      <vt:lpstr>JWCとは</vt:lpstr>
      <vt:lpstr>JWCで活躍されているクランさんたち</vt:lpstr>
      <vt:lpstr>JWCルール</vt:lpstr>
      <vt:lpstr>JWCリーグ構造(超ざっくり)</vt:lpstr>
      <vt:lpstr>JWCのTH13部門だけを目指す</vt:lpstr>
      <vt:lpstr>JWCを目指すことのメリット</vt:lpstr>
      <vt:lpstr>もちろん、デメリットもあります</vt:lpstr>
      <vt:lpstr>大事なこと。ガチは偉い？</vt:lpstr>
      <vt:lpstr>ガチとゆるふわの住み分け</vt:lpstr>
      <vt:lpstr>以降、この資料は JWCを目指すことについて 記述したものになります (やっと本題に入れます)</vt:lpstr>
      <vt:lpstr>目標</vt:lpstr>
      <vt:lpstr>目標(真)</vt:lpstr>
      <vt:lpstr>JWC J3 で 勝つために必要なこと</vt:lpstr>
      <vt:lpstr>メンバー集め：TH13カンスト10人以上</vt:lpstr>
      <vt:lpstr>メンバー集め：各THリソースの分析</vt:lpstr>
      <vt:lpstr>メンバー集め：東方さんメンバー</vt:lpstr>
      <vt:lpstr>メンバー集め：新規募集</vt:lpstr>
      <vt:lpstr>メンバー集め：ゲストの方々</vt:lpstr>
      <vt:lpstr>メンバー集め：あっちゃん本人について</vt:lpstr>
      <vt:lpstr>全壊打率４割</vt:lpstr>
      <vt:lpstr>指揮官</vt:lpstr>
      <vt:lpstr>プランニング文化、なぞり文化</vt:lpstr>
      <vt:lpstr>ガチ実戦経験</vt:lpstr>
      <vt:lpstr>JWC経験者</vt:lpstr>
      <vt:lpstr>各戦術のスペシャリスト</vt:lpstr>
      <vt:lpstr>防衛大臣</vt:lpstr>
      <vt:lpstr>スケジュール</vt:lpstr>
      <vt:lpstr>あくまでも目安です (囚われすぎるのは良くない)</vt:lpstr>
      <vt:lpstr>最後に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/>
  <cp:lastModifiedBy>東俊実</cp:lastModifiedBy>
  <cp:revision>218</cp:revision>
  <dcterms:created xsi:type="dcterms:W3CDTF">2017-03-02T10:44:30Z</dcterms:created>
  <dcterms:modified xsi:type="dcterms:W3CDTF">2020-06-27T09:34:06Z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