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4"/>
  </p:notesMasterIdLst>
  <p:handoutMasterIdLst>
    <p:handoutMasterId r:id="rId25"/>
  </p:handoutMasterIdLst>
  <p:sldIdLst>
    <p:sldId id="256" r:id="rId2"/>
    <p:sldId id="354" r:id="rId3"/>
    <p:sldId id="361" r:id="rId4"/>
    <p:sldId id="337" r:id="rId5"/>
    <p:sldId id="352" r:id="rId6"/>
    <p:sldId id="366" r:id="rId7"/>
    <p:sldId id="358" r:id="rId8"/>
    <p:sldId id="359" r:id="rId9"/>
    <p:sldId id="370" r:id="rId10"/>
    <p:sldId id="355" r:id="rId11"/>
    <p:sldId id="367" r:id="rId12"/>
    <p:sldId id="371" r:id="rId13"/>
    <p:sldId id="368" r:id="rId14"/>
    <p:sldId id="377" r:id="rId15"/>
    <p:sldId id="360" r:id="rId16"/>
    <p:sldId id="363" r:id="rId17"/>
    <p:sldId id="372" r:id="rId18"/>
    <p:sldId id="373" r:id="rId19"/>
    <p:sldId id="374" r:id="rId20"/>
    <p:sldId id="375" r:id="rId21"/>
    <p:sldId id="376" r:id="rId22"/>
    <p:sldId id="369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中間スタイル 4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2021年4月29日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2021年4月29日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2021/4/29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8D677A4-8278-4C4C-B55F-CF7C9590D473}"/>
              </a:ext>
            </a:extLst>
          </p:cNvPr>
          <p:cNvSpPr/>
          <p:nvPr/>
        </p:nvSpPr>
        <p:spPr>
          <a:xfrm>
            <a:off x="0" y="5554151"/>
            <a:ext cx="12192000" cy="818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748F65EA-CF63-F445-8117-0186D58FCA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ja-JP" dirty="0"/>
              <a:t> </a:t>
            </a:r>
            <a:endParaRPr lang="ja-JP" altLang="en-US"/>
          </a:p>
        </p:txBody>
      </p:sp>
      <p:pic>
        <p:nvPicPr>
          <p:cNvPr id="7" name="図 6" descr="アイコン が含まれている画像&#10;&#10;自動的に生成された説明">
            <a:extLst>
              <a:ext uri="{FF2B5EF4-FFF2-40B4-BE49-F238E27FC236}">
                <a16:creationId xmlns:a16="http://schemas.microsoft.com/office/drawing/2014/main" id="{95AEAE40-4C67-364A-87B6-7E0DE9669A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103" y="1053892"/>
            <a:ext cx="10415451" cy="4681745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776261-4BE3-9C41-AB0A-5071D37E6B70}"/>
              </a:ext>
            </a:extLst>
          </p:cNvPr>
          <p:cNvSpPr txBox="1"/>
          <p:nvPr/>
        </p:nvSpPr>
        <p:spPr>
          <a:xfrm>
            <a:off x="8990557" y="5823112"/>
            <a:ext cx="23871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2021/04/29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版</a:t>
            </a:r>
            <a:endParaRPr kumimoji="1" lang="ja-JP" altLang="en-US" sz="2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飛ぶ, 飛行機, 空気, ブルー が含まれている画像&#10;&#10;自動的に生成された説明">
            <a:extLst>
              <a:ext uri="{FF2B5EF4-FFF2-40B4-BE49-F238E27FC236}">
                <a16:creationId xmlns:a16="http://schemas.microsoft.com/office/drawing/2014/main" id="{BC6240F3-D8A2-5D4D-919D-02303D97C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518" y="1184660"/>
            <a:ext cx="4338844" cy="254627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251"/>
            <a:ext cx="10515600" cy="1325563"/>
          </a:xfrm>
        </p:spPr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全体について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名前の由来は「とまり木」です。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クランメンバーの皆さんを鳥に例えて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しっかりと活動できる環境を与えられる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クランを目指していきます。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以下３つのクランで構成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幻のクラン「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6857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クランルール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こまかいルールは設けません。以下だけです。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援軍のお礼禁止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Discord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に加入すること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連絡用に使います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2164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クラン構成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838200" y="1690688"/>
            <a:ext cx="3254829" cy="319482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責任者：魔王様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で構成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7465671-01D6-4E49-9127-8E08E6FDCA45}"/>
              </a:ext>
            </a:extLst>
          </p:cNvPr>
          <p:cNvSpPr/>
          <p:nvPr/>
        </p:nvSpPr>
        <p:spPr>
          <a:xfrm>
            <a:off x="4468585" y="1690687"/>
            <a:ext cx="3254829" cy="319482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責任者：ゴドルフィン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帯は問わない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8ECB154-D4F6-B549-9C6C-905734CE3591}"/>
              </a:ext>
            </a:extLst>
          </p:cNvPr>
          <p:cNvSpPr/>
          <p:nvPr/>
        </p:nvSpPr>
        <p:spPr>
          <a:xfrm>
            <a:off x="8098971" y="1690687"/>
            <a:ext cx="3254829" cy="3194821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責任者：ふるはた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クランリーグのときにだけ現れる幻のクラン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9787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4702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責任者：魔王様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のアクティブ勢で集まる</a:t>
            </a:r>
            <a:r>
              <a:rPr lang="ja-JP" altLang="en-US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以下の希望者は要相談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オンリー化する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月予定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高いモチベーションの人にとって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”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居心地の良いクランであること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強いクランであること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34338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目標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クランリーグ戦：チャンピオン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Ⅰ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J1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への昇格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への挑戦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プレーオフ進出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海外リーグの制覇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(EWL,MLCW,GCC,FWL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2032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行動指針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野良戦はゆるく、常時回します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リーグ戦はガチ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などのイベントはもちろんガチ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ガチ戦は全力で！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などのイベント戦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そこに負けられない戦いがあるとき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65922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2774770"/>
          </a:xfrm>
        </p:spPr>
        <p:txBody>
          <a:bodyPr>
            <a:normAutofit/>
          </a:bodyPr>
          <a:lstStyle/>
          <a:p>
            <a:r>
              <a:rPr kumimoji="1" lang="ja-JP" altLang="en-US" sz="4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kumimoji="1" lang="en-US" altLang="ja-JP" sz="4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4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4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4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89690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責任者：ゴドルフィン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帯は問わない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将来的に新規クランに移行する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まほらまは仮宿です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安心してファーミングできるクランであること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972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行動指針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野良戦はゆるく、常時回します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リーグ戦はメダル狙い→星８取れた人から交代していきます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45437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2678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責任者：ふるはた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クランリーグのときだけ現れる幻のクラン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リーグであぶれた人、摩天楼の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高めの人を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集めてリーグ実施するクラン→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で構成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リーグ戦はメダル狙い→星８取れた人から交代していきます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こっそり運営陣の低レベルサブ垢で野良戦まわすかも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→クランレベル育て用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25840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で、結局どこに所属すれば良いの？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1440923" y="1444670"/>
            <a:ext cx="3254829" cy="23174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7465671-01D6-4E49-9127-8E08E6FDCA45}"/>
              </a:ext>
            </a:extLst>
          </p:cNvPr>
          <p:cNvSpPr/>
          <p:nvPr/>
        </p:nvSpPr>
        <p:spPr>
          <a:xfrm>
            <a:off x="4769947" y="1444669"/>
            <a:ext cx="3254829" cy="23174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8ECB154-D4F6-B549-9C6C-905734CE3591}"/>
              </a:ext>
            </a:extLst>
          </p:cNvPr>
          <p:cNvSpPr/>
          <p:nvPr/>
        </p:nvSpPr>
        <p:spPr>
          <a:xfrm>
            <a:off x="8098971" y="1444669"/>
            <a:ext cx="3254829" cy="23174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基本的に稼働しない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0C9B3003-3199-2148-9973-6375E5148D0B}"/>
              </a:ext>
            </a:extLst>
          </p:cNvPr>
          <p:cNvSpPr/>
          <p:nvPr/>
        </p:nvSpPr>
        <p:spPr>
          <a:xfrm>
            <a:off x="1586156" y="2088324"/>
            <a:ext cx="2955871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567252AE-7EDE-0142-8F63-FA11F9621643}"/>
              </a:ext>
            </a:extLst>
          </p:cNvPr>
          <p:cNvSpPr/>
          <p:nvPr/>
        </p:nvSpPr>
        <p:spPr>
          <a:xfrm>
            <a:off x="1586156" y="2672273"/>
            <a:ext cx="2955870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D1F0B163-99D6-4F4B-91D2-41E47575FD3B}"/>
              </a:ext>
            </a:extLst>
          </p:cNvPr>
          <p:cNvSpPr/>
          <p:nvPr/>
        </p:nvSpPr>
        <p:spPr>
          <a:xfrm>
            <a:off x="4918337" y="2088324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：ファーミング勢</a:t>
            </a: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7D4C88FD-0A19-5E41-B252-D283879E6DDC}"/>
              </a:ext>
            </a:extLst>
          </p:cNvPr>
          <p:cNvSpPr/>
          <p:nvPr/>
        </p:nvSpPr>
        <p:spPr>
          <a:xfrm>
            <a:off x="4918337" y="2672272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以下：ファーミング勢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CA764BC4-39B1-EB45-95D4-74E5FA6F4DAE}"/>
              </a:ext>
            </a:extLst>
          </p:cNvPr>
          <p:cNvSpPr/>
          <p:nvPr/>
        </p:nvSpPr>
        <p:spPr>
          <a:xfrm>
            <a:off x="666772" y="1444670"/>
            <a:ext cx="699956" cy="23174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↑通常時↑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32F5DD01-70EF-0D4E-97EC-3367D49746C6}"/>
              </a:ext>
            </a:extLst>
          </p:cNvPr>
          <p:cNvSpPr/>
          <p:nvPr/>
        </p:nvSpPr>
        <p:spPr>
          <a:xfrm>
            <a:off x="666772" y="3823063"/>
            <a:ext cx="699956" cy="23174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↑リーグ時↑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71014049-C27D-F840-98D9-CE35497E9097}"/>
              </a:ext>
            </a:extLst>
          </p:cNvPr>
          <p:cNvSpPr/>
          <p:nvPr/>
        </p:nvSpPr>
        <p:spPr>
          <a:xfrm>
            <a:off x="1440923" y="3831773"/>
            <a:ext cx="3254829" cy="23174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人リーグ戦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ガチる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710019F-48FD-A645-BC30-EB2778F6739B}"/>
              </a:ext>
            </a:extLst>
          </p:cNvPr>
          <p:cNvSpPr/>
          <p:nvPr/>
        </p:nvSpPr>
        <p:spPr>
          <a:xfrm>
            <a:off x="4769947" y="3831772"/>
            <a:ext cx="3254829" cy="23174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15or30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人リーグ戦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メダル配り作戦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D420DC8D-FF7A-2647-8340-35E7DCEB8DD4}"/>
              </a:ext>
            </a:extLst>
          </p:cNvPr>
          <p:cNvSpPr/>
          <p:nvPr/>
        </p:nvSpPr>
        <p:spPr>
          <a:xfrm>
            <a:off x="8098971" y="3831772"/>
            <a:ext cx="3254829" cy="23174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15or30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人リーグ戦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メダル配り作戦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1" name="角丸四角形 40">
            <a:extLst>
              <a:ext uri="{FF2B5EF4-FFF2-40B4-BE49-F238E27FC236}">
                <a16:creationId xmlns:a16="http://schemas.microsoft.com/office/drawing/2014/main" id="{F7648360-A562-5046-9F73-0D85CB45ECFF}"/>
              </a:ext>
            </a:extLst>
          </p:cNvPr>
          <p:cNvSpPr/>
          <p:nvPr/>
        </p:nvSpPr>
        <p:spPr>
          <a:xfrm>
            <a:off x="8248449" y="4891432"/>
            <a:ext cx="2955871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233706EA-9C6C-9344-8687-5A88CF98C1A6}"/>
              </a:ext>
            </a:extLst>
          </p:cNvPr>
          <p:cNvSpPr/>
          <p:nvPr/>
        </p:nvSpPr>
        <p:spPr>
          <a:xfrm>
            <a:off x="1586156" y="4891432"/>
            <a:ext cx="2955870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0E7EABD8-2E12-B24A-B793-E326DC952D0A}"/>
              </a:ext>
            </a:extLst>
          </p:cNvPr>
          <p:cNvSpPr/>
          <p:nvPr/>
        </p:nvSpPr>
        <p:spPr>
          <a:xfrm>
            <a:off x="8246272" y="5492186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：ファーミング勢</a:t>
            </a:r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005DE1A0-5460-954E-BA9F-6FD261623EBC}"/>
              </a:ext>
            </a:extLst>
          </p:cNvPr>
          <p:cNvSpPr/>
          <p:nvPr/>
        </p:nvSpPr>
        <p:spPr>
          <a:xfrm>
            <a:off x="4918337" y="4891431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以下：ファーミング勢</a:t>
            </a:r>
          </a:p>
        </p:txBody>
      </p:sp>
    </p:spTree>
    <p:extLst>
      <p:ext uri="{BB962C8B-B14F-4D97-AF65-F5344CB8AC3E}">
        <p14:creationId xmlns:p14="http://schemas.microsoft.com/office/powerpoint/2010/main" val="1325985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運営陣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のご紹介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困ったことがありましたら気軽に相談してください。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A76B03DE-AD17-484A-A8B8-8621CD6D9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24129"/>
              </p:ext>
            </p:extLst>
          </p:nvPr>
        </p:nvGraphicFramePr>
        <p:xfrm>
          <a:off x="838200" y="2172457"/>
          <a:ext cx="10515600" cy="38625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01240898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49819417"/>
                    </a:ext>
                  </a:extLst>
                </a:gridCol>
              </a:tblGrid>
              <a:tr h="63880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運営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ガチ戦指揮官、戦術指南役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1537821"/>
                  </a:ext>
                </a:extLst>
              </a:tr>
              <a:tr h="3223776">
                <a:tc>
                  <a:txBody>
                    <a:bodyPr/>
                    <a:lstStyle/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 err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bigtree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ゴドルフィン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魔王様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ふるはた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OB</a:t>
                      </a: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ハンター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ころ助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くい助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8418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975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ざっくりスケジュール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9" name="表 9">
            <a:extLst>
              <a:ext uri="{FF2B5EF4-FFF2-40B4-BE49-F238E27FC236}">
                <a16:creationId xmlns:a16="http://schemas.microsoft.com/office/drawing/2014/main" id="{6130C05C-3439-7C43-9B3B-6F931AA148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3286105"/>
              </p:ext>
            </p:extLst>
          </p:nvPr>
        </p:nvGraphicFramePr>
        <p:xfrm>
          <a:off x="838200" y="1469209"/>
          <a:ext cx="10515600" cy="32974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108413189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4104906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05287549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95923717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79439682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29215227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67134122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33953645"/>
                    </a:ext>
                  </a:extLst>
                </a:gridCol>
              </a:tblGrid>
              <a:tr h="41884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5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6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7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8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9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11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12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7376142"/>
                  </a:ext>
                </a:extLst>
              </a:tr>
              <a:tr h="576469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325545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1318526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898879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3483298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5245242"/>
                  </a:ext>
                </a:extLst>
              </a:tr>
            </a:tbl>
          </a:graphicData>
        </a:graphic>
      </p:graphicFrame>
      <p:sp>
        <p:nvSpPr>
          <p:cNvPr id="11" name="右矢印 10">
            <a:extLst>
              <a:ext uri="{FF2B5EF4-FFF2-40B4-BE49-F238E27FC236}">
                <a16:creationId xmlns:a16="http://schemas.microsoft.com/office/drawing/2014/main" id="{CF7E1CE0-C349-B249-B9A6-7016242E1173}"/>
              </a:ext>
            </a:extLst>
          </p:cNvPr>
          <p:cNvSpPr/>
          <p:nvPr/>
        </p:nvSpPr>
        <p:spPr>
          <a:xfrm>
            <a:off x="1047206" y="2504833"/>
            <a:ext cx="4145278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ファーミング期間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9AF15DE-C36A-9B40-8117-70DFB841C7C1}"/>
              </a:ext>
            </a:extLst>
          </p:cNvPr>
          <p:cNvSpPr txBox="1"/>
          <p:nvPr/>
        </p:nvSpPr>
        <p:spPr>
          <a:xfrm>
            <a:off x="914401" y="2033756"/>
            <a:ext cx="1661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発足</a:t>
            </a:r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D9C86223-6F75-074C-8D72-32AA47EC3DCA}"/>
              </a:ext>
            </a:extLst>
          </p:cNvPr>
          <p:cNvSpPr/>
          <p:nvPr/>
        </p:nvSpPr>
        <p:spPr>
          <a:xfrm>
            <a:off x="5192484" y="3662835"/>
            <a:ext cx="4789716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TH14 </a:t>
            </a:r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期間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多分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右矢印 13">
            <a:extLst>
              <a:ext uri="{FF2B5EF4-FFF2-40B4-BE49-F238E27FC236}">
                <a16:creationId xmlns:a16="http://schemas.microsoft.com/office/drawing/2014/main" id="{345F93E6-70F0-EF45-8EC2-2441B0D5BE1C}"/>
              </a:ext>
            </a:extLst>
          </p:cNvPr>
          <p:cNvSpPr/>
          <p:nvPr/>
        </p:nvSpPr>
        <p:spPr>
          <a:xfrm>
            <a:off x="3524795" y="3085817"/>
            <a:ext cx="1667689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準備期間</a:t>
            </a:r>
          </a:p>
        </p:txBody>
      </p:sp>
      <p:sp>
        <p:nvSpPr>
          <p:cNvPr id="15" name="右矢印 14">
            <a:extLst>
              <a:ext uri="{FF2B5EF4-FFF2-40B4-BE49-F238E27FC236}">
                <a16:creationId xmlns:a16="http://schemas.microsoft.com/office/drawing/2014/main" id="{E1C443FC-CE36-104B-A649-4DB01FE0734D}"/>
              </a:ext>
            </a:extLst>
          </p:cNvPr>
          <p:cNvSpPr/>
          <p:nvPr/>
        </p:nvSpPr>
        <p:spPr>
          <a:xfrm>
            <a:off x="8743406" y="4239853"/>
            <a:ext cx="2610394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何か海外リーグ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(TH14)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があれば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8D174F9-3D7A-1A47-9EAF-149B63BEF42E}"/>
              </a:ext>
            </a:extLst>
          </p:cNvPr>
          <p:cNvSpPr txBox="1"/>
          <p:nvPr/>
        </p:nvSpPr>
        <p:spPr>
          <a:xfrm>
            <a:off x="5172890" y="2029485"/>
            <a:ext cx="16273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開幕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多分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8" name="コンテンツ プレースホルダー 2">
            <a:extLst>
              <a:ext uri="{FF2B5EF4-FFF2-40B4-BE49-F238E27FC236}">
                <a16:creationId xmlns:a16="http://schemas.microsoft.com/office/drawing/2014/main" id="{A4144376-1C58-F44F-A1D6-1232D832E4E8}"/>
              </a:ext>
            </a:extLst>
          </p:cNvPr>
          <p:cNvSpPr txBox="1">
            <a:spLocks/>
          </p:cNvSpPr>
          <p:nvPr/>
        </p:nvSpPr>
        <p:spPr>
          <a:xfrm>
            <a:off x="838200" y="4854998"/>
            <a:ext cx="10515600" cy="1354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ファーミング期間：とにかくファーミングしてください。ペットが憎い。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準備期間：色々。配置準備とか、戦術バランス取りとか、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5vs5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とか、練習試合とか。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TH14 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期間：頑張りましょう。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何か海外リーグ：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月くらいから余裕出ると思うので、適当に探します。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C50FC51-A6AF-1F41-A283-15D2F835AD18}"/>
              </a:ext>
            </a:extLst>
          </p:cNvPr>
          <p:cNvSpPr txBox="1"/>
          <p:nvPr/>
        </p:nvSpPr>
        <p:spPr>
          <a:xfrm>
            <a:off x="9772918" y="1921763"/>
            <a:ext cx="15808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br>
              <a:rPr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オンリー化</a:t>
            </a:r>
            <a:endParaRPr kumimoji="1" lang="ja-JP" altLang="en-US" sz="1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4553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サブリーダー向け資料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4277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権限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責任があるだけで偉いわけではない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あくまでもクラン運営するための雑用係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→それでもやってくれている方々、ありがとう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運営系と実務系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ガチ戦指揮官など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で分ける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ヘルプは気兼ねなく出すこと！モチベ落ちたとかで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→いずれ復帰できるならサブリーダーとして残す、未定なら外す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→ここは明確にしないと他のサブリーダーに示しがつかない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85486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サブリーダーの仕事：運営系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方針について問題が発生した時の話し合い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スケジュール管理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イベント関連の交渉役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リーグ戦メンバー管理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その他、クランのためになること色々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58349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サブリーダーの仕事：実務系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配置関係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作成や相談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ja-JP" altLang="en-US" sz="20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プランニング相談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ガチ戦メンバー選定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その他、ガチ戦で勝つためのこと色々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98997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サブリーダーの仕事：共通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対戦ポチ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放置や荒らしのキック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宣伝、勧誘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→勧誘の仕方については注意を払うこと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→他所のクランの人を誘わない、トラブルの元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4520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のリソース配分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FDDAFCE-9F06-1E48-A9CB-C2ECBD65C4BB}"/>
              </a:ext>
            </a:extLst>
          </p:cNvPr>
          <p:cNvSpPr/>
          <p:nvPr/>
        </p:nvSpPr>
        <p:spPr>
          <a:xfrm>
            <a:off x="1523997" y="1426605"/>
            <a:ext cx="3214553" cy="61991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4895562-9AEE-154C-8FE4-41D01D6A105E}"/>
              </a:ext>
            </a:extLst>
          </p:cNvPr>
          <p:cNvSpPr/>
          <p:nvPr/>
        </p:nvSpPr>
        <p:spPr>
          <a:xfrm>
            <a:off x="4776645" y="1426605"/>
            <a:ext cx="3214553" cy="61991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8A628B8-2066-EF4F-829E-FEC0F3006B7E}"/>
              </a:ext>
            </a:extLst>
          </p:cNvPr>
          <p:cNvSpPr/>
          <p:nvPr/>
        </p:nvSpPr>
        <p:spPr>
          <a:xfrm>
            <a:off x="8029293" y="1426605"/>
            <a:ext cx="3214553" cy="61991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C9B580A-40D6-C048-8415-0C208DDDFF71}"/>
              </a:ext>
            </a:extLst>
          </p:cNvPr>
          <p:cNvSpPr/>
          <p:nvPr/>
        </p:nvSpPr>
        <p:spPr>
          <a:xfrm>
            <a:off x="1523997" y="2106131"/>
            <a:ext cx="3214553" cy="23516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魔王様⑭⑬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くい助⑭⑬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32ECC1F-1F70-AE49-88E9-D525F2F3B578}"/>
              </a:ext>
            </a:extLst>
          </p:cNvPr>
          <p:cNvSpPr/>
          <p:nvPr/>
        </p:nvSpPr>
        <p:spPr>
          <a:xfrm>
            <a:off x="4776645" y="2106131"/>
            <a:ext cx="3214553" cy="235163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ゴドルフィン⑬⑬⑬⑬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ころ助⑬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ふるはた⑬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791A8C-A6C7-644A-BDE7-41C7332643DC}"/>
              </a:ext>
            </a:extLst>
          </p:cNvPr>
          <p:cNvSpPr/>
          <p:nvPr/>
        </p:nvSpPr>
        <p:spPr>
          <a:xfrm>
            <a:off x="8029293" y="2106131"/>
            <a:ext cx="3214553" cy="235163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</a:t>
            </a:r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の低タウンホール垢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kumimoji="1"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細々とクランレベル上げる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6761229-81E3-F849-80CF-A17F90FF6E25}"/>
              </a:ext>
            </a:extLst>
          </p:cNvPr>
          <p:cNvSpPr/>
          <p:nvPr/>
        </p:nvSpPr>
        <p:spPr>
          <a:xfrm>
            <a:off x="1523997" y="4517378"/>
            <a:ext cx="3214553" cy="163958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魔王様⑭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D154756-01B9-3D48-8463-7608C3A99068}"/>
              </a:ext>
            </a:extLst>
          </p:cNvPr>
          <p:cNvSpPr/>
          <p:nvPr/>
        </p:nvSpPr>
        <p:spPr>
          <a:xfrm>
            <a:off x="4776645" y="4517378"/>
            <a:ext cx="3214553" cy="163958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ゴドルフィン⑬⑬⑬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ころ助⑬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6040D20-2BF5-6845-80C0-F2F4FC80A590}"/>
              </a:ext>
            </a:extLst>
          </p:cNvPr>
          <p:cNvSpPr/>
          <p:nvPr/>
        </p:nvSpPr>
        <p:spPr>
          <a:xfrm>
            <a:off x="8029293" y="4517378"/>
            <a:ext cx="3214553" cy="163958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B4B5020-D7C7-444D-9985-0FC48ED5AE4C}"/>
              </a:ext>
            </a:extLst>
          </p:cNvPr>
          <p:cNvSpPr/>
          <p:nvPr/>
        </p:nvSpPr>
        <p:spPr>
          <a:xfrm>
            <a:off x="768528" y="2106131"/>
            <a:ext cx="699956" cy="235163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通常時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0E023B14-47C4-3944-97DA-B4E38E65FC16}"/>
              </a:ext>
            </a:extLst>
          </p:cNvPr>
          <p:cNvSpPr/>
          <p:nvPr/>
        </p:nvSpPr>
        <p:spPr>
          <a:xfrm>
            <a:off x="768528" y="4517378"/>
            <a:ext cx="699956" cy="163958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リーグ時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31939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2219</TotalTime>
  <Words>1019</Words>
  <Application>Microsoft Macintosh PowerPoint</Application>
  <PresentationFormat>ワイド画面</PresentationFormat>
  <Paragraphs>204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9" baseType="lpstr">
      <vt:lpstr>Hiragino Maru Gothic Pro W4</vt:lpstr>
      <vt:lpstr>ＭＳ 明朝</vt:lpstr>
      <vt:lpstr>游ゴシック</vt:lpstr>
      <vt:lpstr>游ゴシック Light</vt:lpstr>
      <vt:lpstr>Arial</vt:lpstr>
      <vt:lpstr>Wingdings</vt:lpstr>
      <vt:lpstr>Office テーマ</vt:lpstr>
      <vt:lpstr> </vt:lpstr>
      <vt:lpstr>TOMARIGI 全体について</vt:lpstr>
      <vt:lpstr>クランルール</vt:lpstr>
      <vt:lpstr>クラン構成</vt:lpstr>
      <vt:lpstr>クラン「TOMARIGI」 </vt:lpstr>
      <vt:lpstr>クラン「TOMARIGI」</vt:lpstr>
      <vt:lpstr>クラン「TOMARIGI」</vt:lpstr>
      <vt:lpstr>クラン「TOMARIGI」</vt:lpstr>
      <vt:lpstr>クラン「まほらま〜摩天楼〜」 </vt:lpstr>
      <vt:lpstr>クラン「まほらま〜摩天楼〜」</vt:lpstr>
      <vt:lpstr>クラン「まほらま〜摩天楼〜」</vt:lpstr>
      <vt:lpstr>クラン「YADORIGI」 </vt:lpstr>
      <vt:lpstr>クラン「YADORIGI」</vt:lpstr>
      <vt:lpstr>で、結局どこに所属すれば良いの？</vt:lpstr>
      <vt:lpstr>サブリーダー(運営陣)のご紹介</vt:lpstr>
      <vt:lpstr>ざっくりスケジュール(2021年)</vt:lpstr>
      <vt:lpstr>サブリーダー向け資料 </vt:lpstr>
      <vt:lpstr>サブリーダーについて</vt:lpstr>
      <vt:lpstr>サブリーダーの仕事：運営系</vt:lpstr>
      <vt:lpstr>サブリーダーの仕事：実務系</vt:lpstr>
      <vt:lpstr>サブリーダーの仕事：共通</vt:lpstr>
      <vt:lpstr>サブリーダーのリソース配分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388</cp:revision>
  <dcterms:created xsi:type="dcterms:W3CDTF">2017-03-02T10:44:30Z</dcterms:created>
  <dcterms:modified xsi:type="dcterms:W3CDTF">2021-04-28T18:28:27Z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