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28" r:id="rId1"/>
  </p:sldMasterIdLst>
  <p:notesMasterIdLst>
    <p:notesMasterId r:id="rId24"/>
  </p:notesMasterIdLst>
  <p:handoutMasterIdLst>
    <p:handoutMasterId r:id="rId25"/>
  </p:handoutMasterIdLst>
  <p:sldIdLst>
    <p:sldId id="256" r:id="rId2"/>
    <p:sldId id="354" r:id="rId3"/>
    <p:sldId id="361" r:id="rId4"/>
    <p:sldId id="337" r:id="rId5"/>
    <p:sldId id="352" r:id="rId6"/>
    <p:sldId id="366" r:id="rId7"/>
    <p:sldId id="358" r:id="rId8"/>
    <p:sldId id="359" r:id="rId9"/>
    <p:sldId id="370" r:id="rId10"/>
    <p:sldId id="355" r:id="rId11"/>
    <p:sldId id="367" r:id="rId12"/>
    <p:sldId id="371" r:id="rId13"/>
    <p:sldId id="368" r:id="rId14"/>
    <p:sldId id="377" r:id="rId15"/>
    <p:sldId id="360" r:id="rId16"/>
    <p:sldId id="363" r:id="rId17"/>
    <p:sldId id="372" r:id="rId18"/>
    <p:sldId id="373" r:id="rId19"/>
    <p:sldId id="374" r:id="rId20"/>
    <p:sldId id="375" r:id="rId21"/>
    <p:sldId id="376" r:id="rId22"/>
    <p:sldId id="369" r:id="rId2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FBF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B301B821-A1FF-4177-AEE7-76D212191A09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3B4B98B0-60AC-42C2-AFA5-B58CD77FA1E5}" styleName="淡色スタイル 1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E3FDE45-AF77-4B5C-9715-49D594BDF05E}" styleName="淡色スタイル 1 - アクセント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69CF1AB2-1976-4502-BF36-3FF5EA218861}" styleName="中間スタイル 4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10A1B5D5-9B99-4C35-A422-299274C87663}" styleName="中間スタイル 1 - アクセント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912C8C85-51F0-491E-9774-3900AFEF0FD7}" styleName="淡色スタイル 2 - アクセント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16D9F66E-5EB9-4882-86FB-DCBF35E3C3E4}" styleName="中間スタイル 4 - アクセント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266" autoAdjust="0"/>
    <p:restoredTop sz="94614" autoAdjust="0"/>
  </p:normalViewPr>
  <p:slideViewPr>
    <p:cSldViewPr snapToGrid="0">
      <p:cViewPr varScale="1">
        <p:scale>
          <a:sx n="147" d="100"/>
          <a:sy n="147" d="100"/>
        </p:scale>
        <p:origin x="1720" y="200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5" d="100"/>
          <a:sy n="85" d="100"/>
        </p:scale>
        <p:origin x="3804" y="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ja-JP" altLang="en-US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5C77BA10-896D-4834-9242-9D6C84DAB17A}" type="datetime4">
              <a:rPr lang="ja-JP" altLang="en-US" smtClean="0">
                <a:latin typeface="ＭＳ 明朝" panose="02020609040205080304" pitchFamily="17" charset="-128"/>
                <a:ea typeface="ＭＳ 明朝" panose="02020609040205080304" pitchFamily="17" charset="-128"/>
              </a:rPr>
              <a:t>2021年5月13日</a:t>
            </a:fld>
            <a:endParaRPr lang="en-US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ja-JP" altLang="en-US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2840BD58-3BFF-4EAF-BB8B-AC67FE801E47}" type="slidenum">
              <a:rPr lang="en-US" altLang="ja-JP" smtClean="0">
                <a:latin typeface="ＭＳ 明朝" panose="02020609040205080304" pitchFamily="17" charset="-128"/>
                <a:ea typeface="ＭＳ 明朝" panose="02020609040205080304" pitchFamily="17" charset="-128"/>
              </a:rPr>
              <a:t>‹#›</a:t>
            </a:fld>
            <a:endParaRPr lang="ja-JP" altLang="en-US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01059436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ＭＳ 明朝" panose="02020609040205080304" pitchFamily="17" charset="-128"/>
                <a:ea typeface="ＭＳ 明朝" panose="02020609040205080304" pitchFamily="17" charset="-128"/>
              </a:defRPr>
            </a:lvl1pPr>
          </a:lstStyle>
          <a:p>
            <a:endParaRPr lang="ja-JP" altLang="en-US" noProof="0" dirty="0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ＭＳ 明朝" panose="02020609040205080304" pitchFamily="17" charset="-128"/>
                <a:ea typeface="ＭＳ 明朝" panose="02020609040205080304" pitchFamily="17" charset="-128"/>
              </a:defRPr>
            </a:lvl1pPr>
          </a:lstStyle>
          <a:p>
            <a:fld id="{30389980-3DE9-4702-8CE7-20043EFDAF6C}" type="datetime4">
              <a:rPr lang="ja-JP" altLang="en-US" smtClean="0"/>
              <a:pPr/>
              <a:t>2021年5月13日</a:t>
            </a:fld>
            <a:endParaRPr 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ja-JP" altLang="en-US" noProof="0" dirty="0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0861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ja-JP" altLang="en-US" noProof="0" dirty="0"/>
              <a:t>クリックしてマスター テキストのスタイルを編集</a:t>
            </a:r>
          </a:p>
          <a:p>
            <a:pPr lvl="1" rtl="0"/>
            <a:r>
              <a:rPr lang="ja-JP" altLang="en-US" noProof="0" dirty="0"/>
              <a:t>第 </a:t>
            </a:r>
            <a:r>
              <a:rPr lang="en-US" altLang="ja-JP" noProof="0" dirty="0"/>
              <a:t>2 </a:t>
            </a:r>
            <a:r>
              <a:rPr lang="ja-JP" altLang="en-US" noProof="0" dirty="0"/>
              <a:t>レベル</a:t>
            </a:r>
          </a:p>
          <a:p>
            <a:pPr lvl="2" rtl="0"/>
            <a:r>
              <a:rPr lang="ja-JP" altLang="en-US" noProof="0" dirty="0"/>
              <a:t>第 </a:t>
            </a:r>
            <a:r>
              <a:rPr lang="en-US" altLang="ja-JP" noProof="0" dirty="0"/>
              <a:t>3 </a:t>
            </a:r>
            <a:r>
              <a:rPr lang="ja-JP" altLang="en-US" noProof="0" dirty="0"/>
              <a:t>レベル</a:t>
            </a:r>
          </a:p>
          <a:p>
            <a:pPr lvl="3" rtl="0"/>
            <a:r>
              <a:rPr lang="ja-JP" altLang="en-US" noProof="0" dirty="0"/>
              <a:t>第 </a:t>
            </a:r>
            <a:r>
              <a:rPr lang="en-US" altLang="ja-JP" noProof="0" dirty="0"/>
              <a:t>4 </a:t>
            </a:r>
            <a:r>
              <a:rPr lang="ja-JP" altLang="en-US" noProof="0" dirty="0"/>
              <a:t>レベル</a:t>
            </a:r>
          </a:p>
          <a:p>
            <a:pPr lvl="4" rtl="0"/>
            <a:r>
              <a:rPr lang="ja-JP" altLang="en-US" noProof="0" dirty="0"/>
              <a:t>第 </a:t>
            </a:r>
            <a:r>
              <a:rPr lang="en-US" altLang="ja-JP" noProof="0" dirty="0"/>
              <a:t>5 </a:t>
            </a:r>
            <a:r>
              <a:rPr lang="ja-JP" altLang="en-US" noProof="0" dirty="0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ＭＳ 明朝" panose="02020609040205080304" pitchFamily="17" charset="-128"/>
                <a:ea typeface="ＭＳ 明朝" panose="02020609040205080304" pitchFamily="17" charset="-128"/>
              </a:defRPr>
            </a:lvl1pPr>
          </a:lstStyle>
          <a:p>
            <a:endParaRPr lang="ja-JP" altLang="en-US" noProof="0" dirty="0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ＭＳ 明朝" panose="02020609040205080304" pitchFamily="17" charset="-128"/>
                <a:ea typeface="ＭＳ 明朝" panose="02020609040205080304" pitchFamily="17" charset="-128"/>
              </a:defRPr>
            </a:lvl1pPr>
          </a:lstStyle>
          <a:p>
            <a:fld id="{68322CDD-9D6C-4F63-9EC2-648226624108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85102655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ＭＳ 明朝" panose="02020609040205080304" pitchFamily="17" charset="-128"/>
        <a:ea typeface="ＭＳ 明朝" panose="02020609040205080304" pitchFamily="17" charset="-128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ＭＳ 明朝" panose="02020609040205080304" pitchFamily="17" charset="-128"/>
        <a:ea typeface="ＭＳ 明朝" panose="02020609040205080304" pitchFamily="17" charset="-128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ＭＳ 明朝" panose="02020609040205080304" pitchFamily="17" charset="-128"/>
        <a:ea typeface="ＭＳ 明朝" panose="02020609040205080304" pitchFamily="17" charset="-128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ＭＳ 明朝" panose="02020609040205080304" pitchFamily="17" charset="-128"/>
        <a:ea typeface="ＭＳ 明朝" panose="02020609040205080304" pitchFamily="17" charset="-128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ＭＳ 明朝" panose="02020609040205080304" pitchFamily="17" charset="-128"/>
        <a:ea typeface="ＭＳ 明朝" panose="02020609040205080304" pitchFamily="17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2D444BD-A135-BA48-91DB-D3A94B79F9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B7701A2B-F8B6-0247-8DCA-D1ABF49796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A7D304-86F3-F047-8C8B-BF3E840DD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D3B2F-B41F-7942-990C-7D7FFD69CA5F}" type="datetimeFigureOut">
              <a:rPr kumimoji="1" lang="ja-JP" altLang="en-US" smtClean="0"/>
              <a:t>2021/5/13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B872E23-705D-F648-AE31-065D211606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7487525-C46B-9341-89C9-111644530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48EE82-CEDF-DA42-8547-6C9D07F67A16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7" name="長方形 7">
            <a:extLst>
              <a:ext uri="{FF2B5EF4-FFF2-40B4-BE49-F238E27FC236}">
                <a16:creationId xmlns:a16="http://schemas.microsoft.com/office/drawing/2014/main" id="{6EEF07FC-4B26-0845-9B6A-A27456BB2604}"/>
              </a:ext>
            </a:extLst>
          </p:cNvPr>
          <p:cNvSpPr/>
          <p:nvPr userDrawn="1"/>
        </p:nvSpPr>
        <p:spPr>
          <a:xfrm>
            <a:off x="0" y="5888736"/>
            <a:ext cx="12192000" cy="109728"/>
          </a:xfrm>
          <a:prstGeom prst="rect">
            <a:avLst/>
          </a:prstGeom>
          <a:ln>
            <a:noFill/>
          </a:ln>
          <a:effectLst>
            <a:outerShdw blurRad="25400" dist="25400" dir="5400000" algn="t" rotWithShape="0">
              <a:schemeClr val="bg1"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ja-JP" altLang="en-US" noProof="0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9163722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DE19E9A-E284-0447-A739-3B3BA8B13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95BD3D5-B8D4-334D-B645-9C284A4823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BB57477-C47A-E54B-88C3-7CB302E48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3293553-851E-E547-A56E-8321D9FE85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68E9FF9-218E-C540-9899-D4481C1DD3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2429384223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21E664E-D85E-0842-A134-DB17BFC016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C6A6DE3-563D-8A47-A4AE-34AF0B5005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D87A73D-8C04-B948-A60C-FA1BF5459C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05040AE-AB59-F54D-AEAD-659B2FD323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2D469C0-C182-0F48-B1D7-ED75131D3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1805289839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198E66D-BF04-0E4E-8C43-6DA0C53E52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F9A5A49-6BAF-E646-B923-63B4C8BD0FA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86B4BDB-6F96-494E-B75F-54A6F1DD28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2A7B09C-2EA1-CF46-B677-A87FBBA485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F55C94B-393D-F042-9893-7D0FE53689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60DC901-8B1B-9942-A693-6C365CE8F3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2486454226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8431E-BF7F-B643-9732-C58E50B07B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380530F-EDAE-A04A-959F-04FFB5916C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FA9A27B-E8DA-2A43-9E6C-4E28C64955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12D4AFFD-EC12-9F4F-A66F-8E1CA65B7FF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D1C73567-33DD-1446-B57A-4A8D3C1214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003C4587-5951-AE40-98EC-000C8348BD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DB8797D5-BA03-FD4F-9766-3645C482D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C2F01D1-340A-B848-9A18-8AC0AA21F3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1444396628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6DDC320-87B3-9240-9F12-5A4E931D7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2C328F43-1148-F640-A232-835EBF9EA9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endParaRPr lang="en-US" dirty="0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990A5E6-C7ED-974B-A5DA-1ED34A27A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ja-JP" altLang="en-US" noProof="0" dirty="0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39B7DB38-D7EA-2E45-B784-6CE9E425D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41092152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5E145497-DA82-9B4A-8975-6E631D3704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DBACD022-6274-D74C-807F-26568E95BE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504A5FB-177C-3949-9977-281F0ED621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2178727416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D2AC5E6-D1F5-0741-9A95-8DA9250021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C60DF96-FDCC-2248-A0BA-3FF5430D44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AF23B4F-43AB-CF42-854E-506F8AA7BD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228205A-07EC-B04A-AFB2-986A6BD56A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791BC3C-3F90-9244-8676-E2EAE04689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859A304-D1F0-714E-ABB0-C307AD847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1745326060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9B52ED7-D0B7-A94A-9D43-79CDE2D8BC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0940C5EC-53A1-774F-935B-8F3FA2472C8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A69FE42-5383-7340-8BFF-A05FC3C16F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56DDAC4-2F89-574F-AF28-91DF0C6EAB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7C6BA52-8E5E-994C-9083-F26C763F37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9A56643-7882-B841-88E7-2029D1D27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4259149233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CB180A3-8BCB-6D4A-9484-CDA70E587E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2F207EA-E990-C34F-9670-1E0C43D6D0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33A9939-599B-A444-B4E6-0C6D970563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949BD4C-D028-7749-AD00-61C028088E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41EAE97-38FC-E147-9A1F-D22088D6F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4293215584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23B90592-6965-BD48-BBB2-B201EA57C71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4F35AD2-C676-624B-B883-6E1E60151B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54BF2B8-E29D-F945-B061-FAE837F8B9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50F5FA2-B055-0644-BFD0-1A4AAF7A9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3E4A748-7D9F-BC45-9AB3-08EF79442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1759054449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60FD5521-8A3B-8B41-BFDC-4B6A866B34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570B859-1202-AD48-8158-D8352800FD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2A2D54D-5D60-2C4B-84D5-1F47A4EBC9F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0C14571-F7CC-FD42-8F2C-7392466F04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ja-JP" altLang="en-US" noProof="0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945EF07-AB40-CB40-B618-13C37B4AED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  <p:sp>
        <p:nvSpPr>
          <p:cNvPr id="7" name="長方形 7">
            <a:extLst>
              <a:ext uri="{FF2B5EF4-FFF2-40B4-BE49-F238E27FC236}">
                <a16:creationId xmlns:a16="http://schemas.microsoft.com/office/drawing/2014/main" id="{81498219-8C3B-FE4D-8C6C-D8803793612A}"/>
              </a:ext>
            </a:extLst>
          </p:cNvPr>
          <p:cNvSpPr/>
          <p:nvPr userDrawn="1"/>
        </p:nvSpPr>
        <p:spPr>
          <a:xfrm>
            <a:off x="0" y="6257036"/>
            <a:ext cx="12192000" cy="54864"/>
          </a:xfrm>
          <a:prstGeom prst="rect">
            <a:avLst/>
          </a:prstGeom>
          <a:ln>
            <a:noFill/>
          </a:ln>
          <a:effectLst>
            <a:innerShdw blurRad="25400" dist="12700" dir="16200000">
              <a:schemeClr val="accent1">
                <a:lumMod val="50000"/>
                <a:alpha val="50000"/>
              </a:scheme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ja-JP" altLang="en-US" noProof="0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6347841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830" r:id="rId2"/>
    <p:sldLayoutId id="2147483831" r:id="rId3"/>
    <p:sldLayoutId id="2147483832" r:id="rId4"/>
    <p:sldLayoutId id="2147483833" r:id="rId5"/>
    <p:sldLayoutId id="2147483834" r:id="rId6"/>
    <p:sldLayoutId id="2147483835" r:id="rId7"/>
    <p:sldLayoutId id="2147483836" r:id="rId8"/>
    <p:sldLayoutId id="2147483837" r:id="rId9"/>
    <p:sldLayoutId id="2147483838" r:id="rId10"/>
    <p:sldLayoutId id="214748383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スライド番号プレースホルダー 3">
            <a:extLst>
              <a:ext uri="{FF2B5EF4-FFF2-40B4-BE49-F238E27FC236}">
                <a16:creationId xmlns:a16="http://schemas.microsoft.com/office/drawing/2014/main" id="{F96F847E-5434-C446-87EA-885B1EDE2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8D677A4-8278-4C4C-B55F-CF7C9590D473}"/>
              </a:ext>
            </a:extLst>
          </p:cNvPr>
          <p:cNvSpPr/>
          <p:nvPr/>
        </p:nvSpPr>
        <p:spPr>
          <a:xfrm>
            <a:off x="0" y="5554151"/>
            <a:ext cx="12192000" cy="818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タイトル 4">
            <a:extLst>
              <a:ext uri="{FF2B5EF4-FFF2-40B4-BE49-F238E27FC236}">
                <a16:creationId xmlns:a16="http://schemas.microsoft.com/office/drawing/2014/main" id="{748F65EA-CF63-F445-8117-0186D58FCA2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ja-JP" dirty="0"/>
              <a:t> </a:t>
            </a:r>
            <a:endParaRPr lang="ja-JP" altLang="en-US"/>
          </a:p>
        </p:txBody>
      </p:sp>
      <p:pic>
        <p:nvPicPr>
          <p:cNvPr id="7" name="図 6" descr="アイコン が含まれている画像&#10;&#10;自動的に生成された説明">
            <a:extLst>
              <a:ext uri="{FF2B5EF4-FFF2-40B4-BE49-F238E27FC236}">
                <a16:creationId xmlns:a16="http://schemas.microsoft.com/office/drawing/2014/main" id="{95AEAE40-4C67-364A-87B6-7E0DE9669A5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4103" y="1053892"/>
            <a:ext cx="10415451" cy="4681745"/>
          </a:xfrm>
          <a:prstGeom prst="rect">
            <a:avLst/>
          </a:prstGeom>
        </p:spPr>
      </p:pic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79776261-4BE3-9C41-AB0A-5071D37E6B70}"/>
              </a:ext>
            </a:extLst>
          </p:cNvPr>
          <p:cNvSpPr txBox="1"/>
          <p:nvPr/>
        </p:nvSpPr>
        <p:spPr>
          <a:xfrm>
            <a:off x="8990557" y="5823112"/>
            <a:ext cx="23871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2021/05/13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版</a:t>
            </a:r>
            <a:endParaRPr kumimoji="1" lang="ja-JP" altLang="en-US" sz="240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8299985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 descr="飛ぶ, 飛行機, 空気, ブルー が含まれている画像&#10;&#10;自動的に生成された説明">
            <a:extLst>
              <a:ext uri="{FF2B5EF4-FFF2-40B4-BE49-F238E27FC236}">
                <a16:creationId xmlns:a16="http://schemas.microsoft.com/office/drawing/2014/main" id="{BC6240F3-D8A2-5D4D-919D-02303D97C35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4518" y="1184660"/>
            <a:ext cx="4338844" cy="2546271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91251"/>
            <a:ext cx="10515600" cy="1325563"/>
          </a:xfrm>
        </p:spPr>
        <p:txBody>
          <a:bodyPr/>
          <a:lstStyle/>
          <a:p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TOMARIGI 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全体について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名前の由来は「とまり木」です。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クランメンバーの皆さんを鳥に例えて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しっかりと活動できる環境を与えられる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クランを目指していきます。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リーダー：</a:t>
            </a:r>
            <a:r>
              <a:rPr lang="en-US" altLang="ja-JP" dirty="0" err="1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bigtree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以下３つのクランで構成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>
              <a:buFont typeface="Wingdings" pitchFamily="2" charset="2"/>
              <a:buChar char="ü"/>
            </a:pP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アクティブクラン「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TOMARIGI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」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>
              <a:buFont typeface="Wingdings" pitchFamily="2" charset="2"/>
              <a:buChar char="ü"/>
            </a:pP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ファーミングクラン「まほらま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摩天楼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」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>
              <a:buFont typeface="Wingdings" pitchFamily="2" charset="2"/>
              <a:buChar char="ü"/>
            </a:pP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幻のクラン「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YADORIGI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」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5768578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クランルール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こまかいルールは設けません。以下だけです。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援軍のお礼禁止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Discord 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に加入すること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連絡用に使います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3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9621643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クラン構成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4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67B5EC37-3D61-B04A-A0F0-C22A1852C1AE}"/>
              </a:ext>
            </a:extLst>
          </p:cNvPr>
          <p:cNvSpPr/>
          <p:nvPr/>
        </p:nvSpPr>
        <p:spPr>
          <a:xfrm>
            <a:off x="838200" y="1690688"/>
            <a:ext cx="3254829" cy="3194821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TOMARIGI</a:t>
            </a:r>
            <a:b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kumimoji="1"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285750" indent="-285750">
              <a:buFont typeface="Wingdings" pitchFamily="2" charset="2"/>
              <a:buChar char="Ø"/>
            </a:pPr>
            <a:r>
              <a:rPr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責任者：魔王様</a:t>
            </a:r>
            <a:endParaRPr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285750" indent="-285750">
              <a:buFont typeface="Wingdings" pitchFamily="2" charset="2"/>
              <a:buChar char="Ø"/>
            </a:pPr>
            <a:r>
              <a:rPr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アクティブクラン</a:t>
            </a:r>
            <a:endParaRPr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285750" indent="-285750">
              <a:buFont typeface="Wingdings" pitchFamily="2" charset="2"/>
              <a:buChar char="Ø"/>
            </a:pPr>
            <a: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TH13</a:t>
            </a:r>
            <a:r>
              <a:rPr kumimoji="1"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、</a:t>
            </a:r>
            <a: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14</a:t>
            </a:r>
            <a:r>
              <a:rPr kumimoji="1"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で構成</a:t>
            </a:r>
            <a:endParaRPr kumimoji="1"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27465671-01D6-4E49-9127-8E08E6FDCA45}"/>
              </a:ext>
            </a:extLst>
          </p:cNvPr>
          <p:cNvSpPr/>
          <p:nvPr/>
        </p:nvSpPr>
        <p:spPr>
          <a:xfrm>
            <a:off x="4468585" y="1690687"/>
            <a:ext cx="3254829" cy="3194821"/>
          </a:xfrm>
          <a:prstGeom prst="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</a:t>
            </a:r>
            <a: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kumimoji="1"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摩天楼</a:t>
            </a:r>
            <a: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b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kumimoji="1"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285750" indent="-285750">
              <a:buFont typeface="Wingdings" pitchFamily="2" charset="2"/>
              <a:buChar char="Ø"/>
            </a:pPr>
            <a:r>
              <a:rPr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責任者：ゴドルフィン</a:t>
            </a:r>
            <a:endParaRPr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285750" indent="-285750">
              <a:buFont typeface="Wingdings" pitchFamily="2" charset="2"/>
              <a:buChar char="Ø"/>
            </a:pPr>
            <a:r>
              <a:rPr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ファーミングクラン</a:t>
            </a:r>
            <a:endParaRPr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285750" indent="-285750">
              <a:buFont typeface="Wingdings" pitchFamily="2" charset="2"/>
              <a:buChar char="Ø"/>
            </a:pPr>
            <a: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</a:t>
            </a:r>
            <a:r>
              <a:rPr kumimoji="1"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帯は問わない</a:t>
            </a:r>
            <a:endParaRPr kumimoji="1"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6" name="正方形/長方形 35">
            <a:extLst>
              <a:ext uri="{FF2B5EF4-FFF2-40B4-BE49-F238E27FC236}">
                <a16:creationId xmlns:a16="http://schemas.microsoft.com/office/drawing/2014/main" id="{98ECB154-D4F6-B549-9C6C-905734CE3591}"/>
              </a:ext>
            </a:extLst>
          </p:cNvPr>
          <p:cNvSpPr/>
          <p:nvPr/>
        </p:nvSpPr>
        <p:spPr>
          <a:xfrm>
            <a:off x="8098971" y="1690687"/>
            <a:ext cx="3254829" cy="3194821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YADORIGI</a:t>
            </a:r>
            <a:b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kumimoji="1"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285750" indent="-285750">
              <a:buFont typeface="Wingdings" pitchFamily="2" charset="2"/>
              <a:buChar char="Ø"/>
            </a:pPr>
            <a:r>
              <a:rPr kumimoji="1"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責任者：ふるはた</a:t>
            </a:r>
            <a:endParaRPr kumimoji="1"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285750" indent="-285750">
              <a:buFont typeface="Wingdings" pitchFamily="2" charset="2"/>
              <a:buChar char="Ø"/>
            </a:pPr>
            <a:r>
              <a:rPr kumimoji="1"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クランリーグのときにだけ現れる幻のクラン</a:t>
            </a:r>
            <a:endParaRPr kumimoji="1"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9497872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E27039-9568-144A-9E91-3B61FB565D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06286" y="1187630"/>
            <a:ext cx="9570720" cy="3173122"/>
          </a:xfrm>
        </p:spPr>
        <p:txBody>
          <a:bodyPr>
            <a:normAutofit/>
          </a:bodyPr>
          <a:lstStyle/>
          <a:p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クラン「</a:t>
            </a:r>
            <a:r>
              <a:rPr kumimoji="1"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TOMARIGI</a:t>
            </a:r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」</a:t>
            </a:r>
            <a:br>
              <a:rPr kumimoji="1"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FA60BD1-FA32-484F-807E-37BB2EC217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5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0747022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クラン「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TOMARIGI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」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概要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60070" indent="-51435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責任者：魔王様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60070" indent="-51435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TH13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、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14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のアクティブ勢で集まる</a:t>
            </a:r>
            <a:r>
              <a:rPr lang="ja-JP" altLang="en-US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(TH12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以下の希望者は要相談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560070" indent="-51435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将来的に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TH14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オンリー化する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(2021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年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12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月予定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方針、目指すクランの姿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“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高いモチベーションの人にとって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”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居心地の良いクランであること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強いクランであること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6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343380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クラン「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TOMARIGI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」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目標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クランリーグ戦：チャンピオン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Ⅰ</a:t>
            </a:r>
          </a:p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 J1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への昇格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CWL Elite 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への挑戦 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プレーオフ進出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海外リーグの制覇 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(EWL,MLCW,GCC,FWL 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等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7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1203254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クラン「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TOMARIGI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」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行動指針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野良戦はゆるく、常時回します</a:t>
            </a: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リーグ戦はガチ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などのイベントはもちろんガチ</a:t>
            </a:r>
          </a:p>
          <a:p>
            <a:pPr marL="45720" indent="0">
              <a:buNone/>
            </a:pP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ガチ戦は全力で！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などのイベント戦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クランリーグ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そこに負けられない戦いがあるとき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8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7659224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E27039-9568-144A-9E91-3B61FB565D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06286" y="1187630"/>
            <a:ext cx="9570720" cy="2774770"/>
          </a:xfrm>
        </p:spPr>
        <p:txBody>
          <a:bodyPr>
            <a:normAutofit/>
          </a:bodyPr>
          <a:lstStyle/>
          <a:p>
            <a:r>
              <a:rPr kumimoji="1" lang="ja-JP" altLang="en-US" sz="48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クラン「まほらま</a:t>
            </a:r>
            <a:r>
              <a:rPr kumimoji="1" lang="en-US" altLang="ja-JP" sz="48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kumimoji="1" lang="ja-JP" altLang="en-US" sz="48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摩天楼</a:t>
            </a:r>
            <a:r>
              <a:rPr kumimoji="1" lang="en-US" altLang="ja-JP" sz="48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kumimoji="1" lang="ja-JP" altLang="en-US" sz="48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」</a:t>
            </a:r>
            <a:br>
              <a:rPr kumimoji="1"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FA60BD1-FA32-484F-807E-37BB2EC217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9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1896907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クラン「まほらま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摩天楼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」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概要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60070" indent="-51435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責任者：ゴドルフィン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60070" indent="-51435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ファーミングクラン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60070" indent="-51435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帯は問わない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60070" indent="-51435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将来的に新規クランに移行する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まほらまは仮宿です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45720" indent="0">
              <a:buNone/>
            </a:pP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方針、目指すクランの姿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安心してファーミングできるクランであること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10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9197271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クラン「まほらま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摩天楼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」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行動指針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野良戦はゆるく、常時回します</a:t>
            </a: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リーグ戦はメダル狙い→星８取れた人から交代していきます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11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3454373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E27039-9568-144A-9E91-3B61FB565D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06286" y="1187630"/>
            <a:ext cx="9570720" cy="3173122"/>
          </a:xfrm>
        </p:spPr>
        <p:txBody>
          <a:bodyPr>
            <a:normAutofit/>
          </a:bodyPr>
          <a:lstStyle/>
          <a:p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クラン「</a:t>
            </a:r>
            <a:r>
              <a:rPr kumimoji="1"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YADORIGI</a:t>
            </a:r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」</a:t>
            </a:r>
            <a:br>
              <a:rPr kumimoji="1"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FA60BD1-FA32-484F-807E-37BB2EC217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12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0726787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クラン「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YADORIGI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」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560070" indent="-51435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責任者：ふるはた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60070" indent="-51435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クランリーグのときだけ現れる幻のクラン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60070" indent="-51435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TOMARIGI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リーグであぶれた人、摩天楼の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高めの人を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集めてリーグ実施するクラン→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TH13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で構成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リーグ戦はメダル狙い→星８取れた人から交代していきます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こっそり運営陣の低レベルサブ垢で野良戦まわすかも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→クランレベル育て用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13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9258409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で、結局どこに所属すれば良いの？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67B5EC37-3D61-B04A-A0F0-C22A1852C1AE}"/>
              </a:ext>
            </a:extLst>
          </p:cNvPr>
          <p:cNvSpPr/>
          <p:nvPr/>
        </p:nvSpPr>
        <p:spPr>
          <a:xfrm>
            <a:off x="1440923" y="1444670"/>
            <a:ext cx="3254829" cy="2317431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TOMARIGI</a:t>
            </a:r>
          </a:p>
        </p:txBody>
      </p:sp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27465671-01D6-4E49-9127-8E08E6FDCA45}"/>
              </a:ext>
            </a:extLst>
          </p:cNvPr>
          <p:cNvSpPr/>
          <p:nvPr/>
        </p:nvSpPr>
        <p:spPr>
          <a:xfrm>
            <a:off x="4769947" y="1444669"/>
            <a:ext cx="3254829" cy="2317432"/>
          </a:xfrm>
          <a:prstGeom prst="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</a:t>
            </a:r>
            <a: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kumimoji="1"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摩天楼</a:t>
            </a:r>
            <a: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</a:p>
        </p:txBody>
      </p:sp>
      <p:sp>
        <p:nvSpPr>
          <p:cNvPr id="36" name="正方形/長方形 35">
            <a:extLst>
              <a:ext uri="{FF2B5EF4-FFF2-40B4-BE49-F238E27FC236}">
                <a16:creationId xmlns:a16="http://schemas.microsoft.com/office/drawing/2014/main" id="{98ECB154-D4F6-B549-9C6C-905734CE3591}"/>
              </a:ext>
            </a:extLst>
          </p:cNvPr>
          <p:cNvSpPr/>
          <p:nvPr/>
        </p:nvSpPr>
        <p:spPr>
          <a:xfrm>
            <a:off x="8098971" y="1444669"/>
            <a:ext cx="3254829" cy="2317432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YADORIGI</a:t>
            </a:r>
            <a:b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b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b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kumimoji="1"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基本的に稼働しない</a:t>
            </a:r>
            <a:endParaRPr kumimoji="1"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0" name="角丸四角形 29">
            <a:extLst>
              <a:ext uri="{FF2B5EF4-FFF2-40B4-BE49-F238E27FC236}">
                <a16:creationId xmlns:a16="http://schemas.microsoft.com/office/drawing/2014/main" id="{0C9B3003-3199-2148-9973-6375E5148D0B}"/>
              </a:ext>
            </a:extLst>
          </p:cNvPr>
          <p:cNvSpPr/>
          <p:nvPr/>
        </p:nvSpPr>
        <p:spPr>
          <a:xfrm>
            <a:off x="1586156" y="2088324"/>
            <a:ext cx="2955871" cy="521898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TH13</a:t>
            </a:r>
            <a:r>
              <a:rPr kumimoji="1"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：アクティブ勢</a:t>
            </a:r>
          </a:p>
        </p:txBody>
      </p:sp>
      <p:sp>
        <p:nvSpPr>
          <p:cNvPr id="31" name="角丸四角形 30">
            <a:extLst>
              <a:ext uri="{FF2B5EF4-FFF2-40B4-BE49-F238E27FC236}">
                <a16:creationId xmlns:a16="http://schemas.microsoft.com/office/drawing/2014/main" id="{567252AE-7EDE-0142-8F63-FA11F9621643}"/>
              </a:ext>
            </a:extLst>
          </p:cNvPr>
          <p:cNvSpPr/>
          <p:nvPr/>
        </p:nvSpPr>
        <p:spPr>
          <a:xfrm>
            <a:off x="1586156" y="2672273"/>
            <a:ext cx="2955870" cy="521898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TH14</a:t>
            </a:r>
            <a:r>
              <a:rPr kumimoji="1"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：アクティブ勢</a:t>
            </a:r>
          </a:p>
        </p:txBody>
      </p:sp>
      <p:sp>
        <p:nvSpPr>
          <p:cNvPr id="32" name="角丸四角形 31">
            <a:extLst>
              <a:ext uri="{FF2B5EF4-FFF2-40B4-BE49-F238E27FC236}">
                <a16:creationId xmlns:a16="http://schemas.microsoft.com/office/drawing/2014/main" id="{D1F0B163-99D6-4F4B-91D2-41E47575FD3B}"/>
              </a:ext>
            </a:extLst>
          </p:cNvPr>
          <p:cNvSpPr/>
          <p:nvPr/>
        </p:nvSpPr>
        <p:spPr>
          <a:xfrm>
            <a:off x="4918337" y="2088324"/>
            <a:ext cx="2958048" cy="521898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TH13-14</a:t>
            </a:r>
            <a:r>
              <a:rPr kumimoji="1"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：ファーミング勢</a:t>
            </a:r>
          </a:p>
        </p:txBody>
      </p:sp>
      <p:sp>
        <p:nvSpPr>
          <p:cNvPr id="33" name="角丸四角形 32">
            <a:extLst>
              <a:ext uri="{FF2B5EF4-FFF2-40B4-BE49-F238E27FC236}">
                <a16:creationId xmlns:a16="http://schemas.microsoft.com/office/drawing/2014/main" id="{7D4C88FD-0A19-5E41-B252-D283879E6DDC}"/>
              </a:ext>
            </a:extLst>
          </p:cNvPr>
          <p:cNvSpPr/>
          <p:nvPr/>
        </p:nvSpPr>
        <p:spPr>
          <a:xfrm>
            <a:off x="4918337" y="2672272"/>
            <a:ext cx="2958048" cy="521898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TH12</a:t>
            </a:r>
            <a:r>
              <a:rPr kumimoji="1"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以下：ファーミング勢</a:t>
            </a: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CA764BC4-39B1-EB45-95D4-74E5FA6F4DAE}"/>
              </a:ext>
            </a:extLst>
          </p:cNvPr>
          <p:cNvSpPr/>
          <p:nvPr/>
        </p:nvSpPr>
        <p:spPr>
          <a:xfrm>
            <a:off x="666772" y="1444670"/>
            <a:ext cx="699956" cy="2317432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↑通常時↑</a:t>
            </a:r>
            <a:endParaRPr kumimoji="1"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7" name="正方形/長方形 36">
            <a:extLst>
              <a:ext uri="{FF2B5EF4-FFF2-40B4-BE49-F238E27FC236}">
                <a16:creationId xmlns:a16="http://schemas.microsoft.com/office/drawing/2014/main" id="{32F5DD01-70EF-0D4E-97EC-3367D49746C6}"/>
              </a:ext>
            </a:extLst>
          </p:cNvPr>
          <p:cNvSpPr/>
          <p:nvPr/>
        </p:nvSpPr>
        <p:spPr>
          <a:xfrm>
            <a:off x="666772" y="3823063"/>
            <a:ext cx="699956" cy="2317432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↑リーグ時↑</a:t>
            </a:r>
            <a:endParaRPr kumimoji="1"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71014049-C27D-F840-98D9-CE35497E9097}"/>
              </a:ext>
            </a:extLst>
          </p:cNvPr>
          <p:cNvSpPr/>
          <p:nvPr/>
        </p:nvSpPr>
        <p:spPr>
          <a:xfrm>
            <a:off x="1440923" y="3831773"/>
            <a:ext cx="3254829" cy="2317431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TOMARIGI</a:t>
            </a:r>
          </a:p>
          <a:p>
            <a:pPr marL="342900" indent="-342900">
              <a:buFont typeface="Wingdings" pitchFamily="2" charset="2"/>
              <a:buChar char="Ø"/>
            </a:pPr>
            <a: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15</a:t>
            </a:r>
            <a:r>
              <a:rPr kumimoji="1"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人リーグ戦</a:t>
            </a:r>
            <a:endParaRPr kumimoji="1"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42900" indent="-342900">
              <a:buFont typeface="Wingdings" pitchFamily="2" charset="2"/>
              <a:buChar char="Ø"/>
            </a:pPr>
            <a:r>
              <a:rPr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ガチる</a:t>
            </a:r>
            <a:endParaRPr kumimoji="1"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2710019F-48FD-A645-BC30-EB2778F6739B}"/>
              </a:ext>
            </a:extLst>
          </p:cNvPr>
          <p:cNvSpPr/>
          <p:nvPr/>
        </p:nvSpPr>
        <p:spPr>
          <a:xfrm>
            <a:off x="4769947" y="3831772"/>
            <a:ext cx="3254829" cy="2317432"/>
          </a:xfrm>
          <a:prstGeom prst="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</a:t>
            </a:r>
            <a: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kumimoji="1"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摩天楼</a:t>
            </a:r>
            <a: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endParaRPr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42900" indent="-342900">
              <a:buFont typeface="Wingdings" pitchFamily="2" charset="2"/>
              <a:buChar char="Ø"/>
            </a:pPr>
            <a:r>
              <a:rPr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15or30</a:t>
            </a:r>
            <a:r>
              <a:rPr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人リーグ戦</a:t>
            </a:r>
            <a:endParaRPr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42900" indent="-342900">
              <a:buFont typeface="Wingdings" pitchFamily="2" charset="2"/>
              <a:buChar char="Ø"/>
            </a:pPr>
            <a:r>
              <a:rPr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メダル配り作戦</a:t>
            </a:r>
            <a:endParaRPr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42900" indent="-342900">
              <a:buFont typeface="Wingdings" pitchFamily="2" charset="2"/>
              <a:buChar char="Ø"/>
            </a:pPr>
            <a:endParaRPr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0" name="正方形/長方形 39">
            <a:extLst>
              <a:ext uri="{FF2B5EF4-FFF2-40B4-BE49-F238E27FC236}">
                <a16:creationId xmlns:a16="http://schemas.microsoft.com/office/drawing/2014/main" id="{D420DC8D-FF7A-2647-8340-35E7DCEB8DD4}"/>
              </a:ext>
            </a:extLst>
          </p:cNvPr>
          <p:cNvSpPr/>
          <p:nvPr/>
        </p:nvSpPr>
        <p:spPr>
          <a:xfrm>
            <a:off x="8098971" y="3831772"/>
            <a:ext cx="3254829" cy="2317432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YADORIGI</a:t>
            </a:r>
            <a:endParaRPr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42900" indent="-342900">
              <a:buFont typeface="Wingdings" pitchFamily="2" charset="2"/>
              <a:buChar char="Ø"/>
            </a:pPr>
            <a:r>
              <a:rPr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15or30</a:t>
            </a:r>
            <a:r>
              <a:rPr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人リーグ戦</a:t>
            </a:r>
            <a:endParaRPr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42900" indent="-342900">
              <a:buFont typeface="Wingdings" pitchFamily="2" charset="2"/>
              <a:buChar char="Ø"/>
            </a:pPr>
            <a:r>
              <a:rPr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メダル配り作戦</a:t>
            </a:r>
            <a:endParaRPr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42900" indent="-342900">
              <a:buFont typeface="Wingdings" pitchFamily="2" charset="2"/>
              <a:buChar char="Ø"/>
            </a:pPr>
            <a:endParaRPr kumimoji="1"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1" name="角丸四角形 40">
            <a:extLst>
              <a:ext uri="{FF2B5EF4-FFF2-40B4-BE49-F238E27FC236}">
                <a16:creationId xmlns:a16="http://schemas.microsoft.com/office/drawing/2014/main" id="{F7648360-A562-5046-9F73-0D85CB45ECFF}"/>
              </a:ext>
            </a:extLst>
          </p:cNvPr>
          <p:cNvSpPr/>
          <p:nvPr/>
        </p:nvSpPr>
        <p:spPr>
          <a:xfrm>
            <a:off x="8248449" y="4891432"/>
            <a:ext cx="2955871" cy="521898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TH13</a:t>
            </a:r>
            <a:r>
              <a:rPr kumimoji="1"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：アクティブ勢</a:t>
            </a:r>
          </a:p>
        </p:txBody>
      </p:sp>
      <p:sp>
        <p:nvSpPr>
          <p:cNvPr id="42" name="角丸四角形 41">
            <a:extLst>
              <a:ext uri="{FF2B5EF4-FFF2-40B4-BE49-F238E27FC236}">
                <a16:creationId xmlns:a16="http://schemas.microsoft.com/office/drawing/2014/main" id="{233706EA-9C6C-9344-8687-5A88CF98C1A6}"/>
              </a:ext>
            </a:extLst>
          </p:cNvPr>
          <p:cNvSpPr/>
          <p:nvPr/>
        </p:nvSpPr>
        <p:spPr>
          <a:xfrm>
            <a:off x="1586156" y="4891432"/>
            <a:ext cx="2955870" cy="521898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TH14</a:t>
            </a:r>
            <a:r>
              <a:rPr kumimoji="1"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：アクティブ勢</a:t>
            </a:r>
          </a:p>
        </p:txBody>
      </p:sp>
      <p:sp>
        <p:nvSpPr>
          <p:cNvPr id="43" name="角丸四角形 42">
            <a:extLst>
              <a:ext uri="{FF2B5EF4-FFF2-40B4-BE49-F238E27FC236}">
                <a16:creationId xmlns:a16="http://schemas.microsoft.com/office/drawing/2014/main" id="{0E7EABD8-2E12-B24A-B793-E326DC952D0A}"/>
              </a:ext>
            </a:extLst>
          </p:cNvPr>
          <p:cNvSpPr/>
          <p:nvPr/>
        </p:nvSpPr>
        <p:spPr>
          <a:xfrm>
            <a:off x="8246272" y="5492186"/>
            <a:ext cx="2958048" cy="521898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TH13-14</a:t>
            </a:r>
            <a:r>
              <a:rPr kumimoji="1"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：ファーミング勢</a:t>
            </a:r>
          </a:p>
        </p:txBody>
      </p:sp>
      <p:sp>
        <p:nvSpPr>
          <p:cNvPr id="44" name="角丸四角形 43">
            <a:extLst>
              <a:ext uri="{FF2B5EF4-FFF2-40B4-BE49-F238E27FC236}">
                <a16:creationId xmlns:a16="http://schemas.microsoft.com/office/drawing/2014/main" id="{005DE1A0-5460-954E-BA9F-6FD261623EBC}"/>
              </a:ext>
            </a:extLst>
          </p:cNvPr>
          <p:cNvSpPr/>
          <p:nvPr/>
        </p:nvSpPr>
        <p:spPr>
          <a:xfrm>
            <a:off x="4918337" y="4891431"/>
            <a:ext cx="2958048" cy="521898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TH12</a:t>
            </a:r>
            <a:r>
              <a:rPr kumimoji="1"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以下：ファーミング勢</a:t>
            </a:r>
          </a:p>
        </p:txBody>
      </p:sp>
    </p:spTree>
    <p:extLst>
      <p:ext uri="{BB962C8B-B14F-4D97-AF65-F5344CB8AC3E}">
        <p14:creationId xmlns:p14="http://schemas.microsoft.com/office/powerpoint/2010/main" val="13259855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サブリーダー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運営陣</a:t>
            </a:r>
            <a:r>
              <a:rPr kumimoji="1"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のご紹介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困ったことがありましたら気軽に相談してください。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15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graphicFrame>
        <p:nvGraphicFramePr>
          <p:cNvPr id="5" name="表 5">
            <a:extLst>
              <a:ext uri="{FF2B5EF4-FFF2-40B4-BE49-F238E27FC236}">
                <a16:creationId xmlns:a16="http://schemas.microsoft.com/office/drawing/2014/main" id="{A76B03DE-AD17-484A-A8B8-8621CD6D98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924129"/>
              </p:ext>
            </p:extLst>
          </p:nvPr>
        </p:nvGraphicFramePr>
        <p:xfrm>
          <a:off x="838200" y="2172457"/>
          <a:ext cx="10515600" cy="386258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4012408986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3349819417"/>
                    </a:ext>
                  </a:extLst>
                </a:gridCol>
              </a:tblGrid>
              <a:tr h="638807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800"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運営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800"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ガチ戦指揮官、戦術指南役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51537821"/>
                  </a:ext>
                </a:extLst>
              </a:tr>
              <a:tr h="3223776">
                <a:tc>
                  <a:txBody>
                    <a:bodyPr/>
                    <a:lstStyle/>
                    <a:p>
                      <a:pPr marL="502920" indent="-457200">
                        <a:buFont typeface="Wingdings" pitchFamily="2" charset="2"/>
                        <a:buChar char="Ø"/>
                      </a:pPr>
                      <a:r>
                        <a:rPr lang="en-US" altLang="ja-JP" sz="2800" dirty="0" err="1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bigtree</a:t>
                      </a:r>
                      <a:endParaRPr lang="en-US" altLang="ja-JP" sz="2800" dirty="0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  <a:p>
                      <a:pPr marL="502920" indent="-457200">
                        <a:buFont typeface="Wingdings" pitchFamily="2" charset="2"/>
                        <a:buChar char="Ø"/>
                      </a:pPr>
                      <a:r>
                        <a:rPr lang="ja-JP" altLang="en-US" sz="280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ゴドルフィン</a:t>
                      </a:r>
                      <a:endParaRPr lang="en-US" altLang="ja-JP" sz="2800" dirty="0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  <a:p>
                      <a:pPr marL="502920" indent="-457200">
                        <a:buFont typeface="Wingdings" pitchFamily="2" charset="2"/>
                        <a:buChar char="Ø"/>
                      </a:pPr>
                      <a:r>
                        <a:rPr lang="ja-JP" altLang="en-US" sz="280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魔王様</a:t>
                      </a:r>
                      <a:endParaRPr lang="en-US" altLang="ja-JP" sz="2800" dirty="0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  <a:p>
                      <a:pPr marL="502920" indent="-457200">
                        <a:buFont typeface="Wingdings" pitchFamily="2" charset="2"/>
                        <a:buChar char="Ø"/>
                      </a:pPr>
                      <a:r>
                        <a:rPr lang="ja-JP" altLang="en-US" sz="280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ふるはた</a:t>
                      </a:r>
                      <a:endParaRPr lang="en-US" altLang="ja-JP" sz="2800" dirty="0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  <a:p>
                      <a:pPr marL="502920" indent="-457200">
                        <a:buFont typeface="Wingdings" pitchFamily="2" charset="2"/>
                        <a:buChar char="Ø"/>
                      </a:pPr>
                      <a:r>
                        <a:rPr lang="en-US" altLang="ja-JP" sz="2800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OB</a:t>
                      </a:r>
                      <a:r>
                        <a:rPr lang="ja-JP" altLang="en-US" sz="280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ハンター</a:t>
                      </a:r>
                      <a:endParaRPr lang="en-US" altLang="ja-JP" sz="2800" dirty="0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  <a:p>
                      <a:pPr marL="502920" indent="-457200">
                        <a:buFont typeface="Wingdings" pitchFamily="2" charset="2"/>
                        <a:buChar char="Ø"/>
                      </a:pPr>
                      <a:r>
                        <a:rPr lang="ja-JP" altLang="en-US" sz="280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ころ助</a:t>
                      </a:r>
                      <a:endParaRPr lang="en-US" altLang="ja-JP" sz="2800" dirty="0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502920" indent="-457200">
                        <a:buFont typeface="Wingdings" pitchFamily="2" charset="2"/>
                        <a:buChar char="Ø"/>
                      </a:pPr>
                      <a:r>
                        <a:rPr lang="ja-JP" altLang="en-US" sz="280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くい助</a:t>
                      </a:r>
                      <a:endParaRPr lang="en-US" altLang="ja-JP" sz="2800" dirty="0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  <a:p>
                      <a:pPr marL="502920" indent="-457200">
                        <a:buFont typeface="Wingdings" pitchFamily="2" charset="2"/>
                        <a:buChar char="Ø"/>
                      </a:pPr>
                      <a:r>
                        <a:rPr lang="en-US" altLang="ja-JP" sz="2800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121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484184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097553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ざっくりスケジュール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(2021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年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16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graphicFrame>
        <p:nvGraphicFramePr>
          <p:cNvPr id="9" name="表 9">
            <a:extLst>
              <a:ext uri="{FF2B5EF4-FFF2-40B4-BE49-F238E27FC236}">
                <a16:creationId xmlns:a16="http://schemas.microsoft.com/office/drawing/2014/main" id="{6130C05C-3439-7C43-9B3B-6F931AA1482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69093317"/>
              </p:ext>
            </p:extLst>
          </p:nvPr>
        </p:nvGraphicFramePr>
        <p:xfrm>
          <a:off x="838200" y="1469209"/>
          <a:ext cx="10515600" cy="32689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4450">
                  <a:extLst>
                    <a:ext uri="{9D8B030D-6E8A-4147-A177-3AD203B41FA5}">
                      <a16:colId xmlns:a16="http://schemas.microsoft.com/office/drawing/2014/main" val="1084131894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2141049065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3052875490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959237172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1794396829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1929215227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3671341228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2133953645"/>
                    </a:ext>
                  </a:extLst>
                </a:gridCol>
              </a:tblGrid>
              <a:tr h="3520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5</a:t>
                      </a:r>
                      <a:r>
                        <a:rPr kumimoji="1" lang="ja-JP" altLang="en-US" sz="1800"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6</a:t>
                      </a:r>
                      <a:r>
                        <a:rPr kumimoji="1" lang="ja-JP" altLang="en-US" sz="1800"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7</a:t>
                      </a:r>
                      <a:r>
                        <a:rPr kumimoji="1" lang="ja-JP" altLang="en-US" sz="1800"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8</a:t>
                      </a:r>
                      <a:r>
                        <a:rPr kumimoji="1" lang="ja-JP" altLang="en-US" sz="1800"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9</a:t>
                      </a:r>
                      <a:r>
                        <a:rPr kumimoji="1" lang="ja-JP" altLang="en-US" sz="1800"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10</a:t>
                      </a:r>
                      <a:r>
                        <a:rPr kumimoji="1" lang="ja-JP" altLang="en-US" sz="1800"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11</a:t>
                      </a:r>
                      <a:r>
                        <a:rPr kumimoji="1" lang="ja-JP" altLang="en-US" sz="1800"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12</a:t>
                      </a:r>
                      <a:r>
                        <a:rPr kumimoji="1" lang="ja-JP" altLang="en-US" sz="1800"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月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27376142"/>
                  </a:ext>
                </a:extLst>
              </a:tr>
              <a:tr h="484520"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68325545"/>
                  </a:ext>
                </a:extLst>
              </a:tr>
              <a:tr h="483743"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01318526"/>
                  </a:ext>
                </a:extLst>
              </a:tr>
              <a:tr h="483743"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8996659"/>
                  </a:ext>
                </a:extLst>
              </a:tr>
              <a:tr h="483743"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en-US" altLang="ja-JP" sz="1800" dirty="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87898879"/>
                  </a:ext>
                </a:extLst>
              </a:tr>
              <a:tr h="483743"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en-US" altLang="ja-JP" sz="1800" dirty="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73483298"/>
                  </a:ext>
                </a:extLst>
              </a:tr>
              <a:tr h="483743"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en-US" altLang="ja-JP" sz="1800" dirty="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05245242"/>
                  </a:ext>
                </a:extLst>
              </a:tr>
            </a:tbl>
          </a:graphicData>
        </a:graphic>
      </p:graphicFrame>
      <p:sp>
        <p:nvSpPr>
          <p:cNvPr id="11" name="右矢印 10">
            <a:extLst>
              <a:ext uri="{FF2B5EF4-FFF2-40B4-BE49-F238E27FC236}">
                <a16:creationId xmlns:a16="http://schemas.microsoft.com/office/drawing/2014/main" id="{CF7E1CE0-C349-B249-B9A6-7016242E1173}"/>
              </a:ext>
            </a:extLst>
          </p:cNvPr>
          <p:cNvSpPr/>
          <p:nvPr/>
        </p:nvSpPr>
        <p:spPr>
          <a:xfrm>
            <a:off x="1047206" y="2349965"/>
            <a:ext cx="3707787" cy="440720"/>
          </a:xfrm>
          <a:prstGeom prst="rightArrow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ファーミングがんばれ期間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69AF15DE-C36A-9B40-8117-70DFB841C7C1}"/>
              </a:ext>
            </a:extLst>
          </p:cNvPr>
          <p:cNvSpPr txBox="1"/>
          <p:nvPr/>
        </p:nvSpPr>
        <p:spPr>
          <a:xfrm>
            <a:off x="813897" y="1949973"/>
            <a:ext cx="14494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★</a:t>
            </a:r>
            <a:r>
              <a:rPr kumimoji="1" lang="en-US" altLang="ja-JP" sz="1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TOMARIGI</a:t>
            </a:r>
            <a:r>
              <a:rPr kumimoji="1" lang="ja-JP" altLang="en-US" sz="1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発足</a:t>
            </a:r>
          </a:p>
        </p:txBody>
      </p:sp>
      <p:sp>
        <p:nvSpPr>
          <p:cNvPr id="13" name="右矢印 12">
            <a:extLst>
              <a:ext uri="{FF2B5EF4-FFF2-40B4-BE49-F238E27FC236}">
                <a16:creationId xmlns:a16="http://schemas.microsoft.com/office/drawing/2014/main" id="{D9C86223-6F75-074C-8D72-32AA47EC3DCA}"/>
              </a:ext>
            </a:extLst>
          </p:cNvPr>
          <p:cNvSpPr/>
          <p:nvPr/>
        </p:nvSpPr>
        <p:spPr>
          <a:xfrm>
            <a:off x="4800599" y="3769476"/>
            <a:ext cx="5218043" cy="440720"/>
          </a:xfrm>
          <a:prstGeom prst="rightArrow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 TH14</a:t>
            </a:r>
            <a:r>
              <a:rPr lang="en-US" altLang="ja-JP" sz="12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</a:t>
            </a:r>
            <a:r>
              <a:rPr lang="ja-JP" altLang="en-US" sz="12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期間は推測</a:t>
            </a:r>
            <a:r>
              <a:rPr lang="en-US" altLang="ja-JP" sz="12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endParaRPr kumimoji="1" lang="ja-JP" altLang="en-US" sz="120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4" name="右矢印 13">
            <a:extLst>
              <a:ext uri="{FF2B5EF4-FFF2-40B4-BE49-F238E27FC236}">
                <a16:creationId xmlns:a16="http://schemas.microsoft.com/office/drawing/2014/main" id="{345F93E6-70F0-EF45-8EC2-2441B0D5BE1C}"/>
              </a:ext>
            </a:extLst>
          </p:cNvPr>
          <p:cNvSpPr/>
          <p:nvPr/>
        </p:nvSpPr>
        <p:spPr>
          <a:xfrm>
            <a:off x="3429001" y="3318853"/>
            <a:ext cx="1325994" cy="440720"/>
          </a:xfrm>
          <a:prstGeom prst="rightArrow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kumimoji="1" lang="ja-JP" altLang="en-US" sz="12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準備期間</a:t>
            </a:r>
          </a:p>
        </p:txBody>
      </p:sp>
      <p:sp>
        <p:nvSpPr>
          <p:cNvPr id="15" name="右矢印 14">
            <a:extLst>
              <a:ext uri="{FF2B5EF4-FFF2-40B4-BE49-F238E27FC236}">
                <a16:creationId xmlns:a16="http://schemas.microsoft.com/office/drawing/2014/main" id="{E1C443FC-CE36-104B-A649-4DB01FE0734D}"/>
              </a:ext>
            </a:extLst>
          </p:cNvPr>
          <p:cNvSpPr/>
          <p:nvPr/>
        </p:nvSpPr>
        <p:spPr>
          <a:xfrm>
            <a:off x="8743406" y="4283765"/>
            <a:ext cx="2610394" cy="440720"/>
          </a:xfrm>
          <a:prstGeom prst="rightArrow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2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適当な海外リーグ</a:t>
            </a:r>
            <a:r>
              <a:rPr lang="en-US" altLang="ja-JP" sz="12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(TH14)</a:t>
            </a:r>
            <a:endParaRPr kumimoji="1" lang="ja-JP" altLang="en-US" sz="120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A8D174F9-3D7A-1A47-9EAF-149B63BEF42E}"/>
              </a:ext>
            </a:extLst>
          </p:cNvPr>
          <p:cNvSpPr txBox="1"/>
          <p:nvPr/>
        </p:nvSpPr>
        <p:spPr>
          <a:xfrm>
            <a:off x="4725176" y="1949973"/>
            <a:ext cx="194957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★</a:t>
            </a:r>
            <a:r>
              <a:rPr kumimoji="1" lang="en-US" altLang="ja-JP" sz="1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 TH14 </a:t>
            </a:r>
            <a:r>
              <a:rPr kumimoji="1" lang="ja-JP" altLang="en-US" sz="1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開幕</a:t>
            </a:r>
            <a:r>
              <a:rPr kumimoji="1" lang="en-US" altLang="ja-JP" sz="1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kumimoji="1" lang="ja-JP" altLang="en-US" sz="1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多分</a:t>
            </a:r>
            <a:r>
              <a:rPr kumimoji="1" lang="en-US" altLang="ja-JP" sz="1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endParaRPr kumimoji="1" lang="ja-JP" altLang="en-US" sz="120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8" name="コンテンツ プレースホルダー 2">
            <a:extLst>
              <a:ext uri="{FF2B5EF4-FFF2-40B4-BE49-F238E27FC236}">
                <a16:creationId xmlns:a16="http://schemas.microsoft.com/office/drawing/2014/main" id="{A4144376-1C58-F44F-A1D6-1232D832E4E8}"/>
              </a:ext>
            </a:extLst>
          </p:cNvPr>
          <p:cNvSpPr txBox="1">
            <a:spLocks/>
          </p:cNvSpPr>
          <p:nvPr/>
        </p:nvSpPr>
        <p:spPr>
          <a:xfrm>
            <a:off x="838200" y="4854998"/>
            <a:ext cx="10515600" cy="135421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31470" indent="-285750"/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ファーミングがんばれ期間：とにかくファーミングしてください。ペットが憎い。</a:t>
            </a:r>
            <a:endParaRPr lang="en-US" altLang="ja-JP" sz="16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31470" indent="-285750"/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 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スイス：頑張りましょう。</a:t>
            </a:r>
            <a:endParaRPr lang="en-US" altLang="ja-JP" sz="16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31470" indent="-285750"/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準備期間：色々。配置準備とか、戦術バランス取りとか、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5vs5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とか、練習試合とか。</a:t>
            </a:r>
            <a:endParaRPr lang="en-US" altLang="ja-JP" sz="16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31470" indent="-285750"/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 TH14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：頑張りましょう。</a:t>
            </a:r>
            <a:endParaRPr lang="en-US" altLang="ja-JP" sz="16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31470" indent="-285750"/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適当な海外リーグ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(TH14)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：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11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月くらいから余裕出ると思うので適当に探します。</a:t>
            </a:r>
            <a:endParaRPr lang="en-US" altLang="ja-JP" sz="16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1C50FC51-A6AF-1F41-A283-15D2F835AD18}"/>
              </a:ext>
            </a:extLst>
          </p:cNvPr>
          <p:cNvSpPr txBox="1"/>
          <p:nvPr/>
        </p:nvSpPr>
        <p:spPr>
          <a:xfrm>
            <a:off x="9971690" y="1861849"/>
            <a:ext cx="15359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★</a:t>
            </a:r>
            <a:r>
              <a:rPr kumimoji="1" lang="en-US" altLang="ja-JP" sz="1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TOMARIGI</a:t>
            </a:r>
            <a:br>
              <a:rPr lang="en-US" altLang="ja-JP" sz="1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</a:t>
            </a:r>
            <a:r>
              <a:rPr lang="en-US" altLang="ja-JP" sz="1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TH14</a:t>
            </a:r>
            <a:r>
              <a:rPr lang="ja-JP" altLang="en-US" sz="1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オンリー化</a:t>
            </a:r>
            <a:endParaRPr kumimoji="1" lang="ja-JP" altLang="en-US" sz="120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9" name="右矢印 18">
            <a:extLst>
              <a:ext uri="{FF2B5EF4-FFF2-40B4-BE49-F238E27FC236}">
                <a16:creationId xmlns:a16="http://schemas.microsoft.com/office/drawing/2014/main" id="{17A9D00A-03A1-D143-8ACB-FD71EC0CEEA1}"/>
              </a:ext>
            </a:extLst>
          </p:cNvPr>
          <p:cNvSpPr/>
          <p:nvPr/>
        </p:nvSpPr>
        <p:spPr>
          <a:xfrm>
            <a:off x="2164193" y="2843586"/>
            <a:ext cx="2590800" cy="440720"/>
          </a:xfrm>
          <a:prstGeom prst="rightArrow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 </a:t>
            </a:r>
            <a:r>
              <a:rPr lang="ja-JP" altLang="en-US" sz="12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スイス</a:t>
            </a:r>
            <a:endParaRPr kumimoji="1" lang="ja-JP" altLang="en-US" sz="120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943A6A3F-CA5C-FE46-9A3A-3E5F70C3E5A0}"/>
              </a:ext>
            </a:extLst>
          </p:cNvPr>
          <p:cNvSpPr txBox="1"/>
          <p:nvPr/>
        </p:nvSpPr>
        <p:spPr>
          <a:xfrm>
            <a:off x="2084681" y="1947382"/>
            <a:ext cx="156324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★</a:t>
            </a:r>
            <a:r>
              <a:rPr kumimoji="1" lang="en-US" altLang="ja-JP" sz="1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 </a:t>
            </a:r>
            <a:r>
              <a:rPr kumimoji="1" lang="ja-JP" altLang="en-US" sz="1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スイス</a:t>
            </a:r>
            <a:r>
              <a:rPr kumimoji="1" lang="en-US" altLang="ja-JP" sz="1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</a:t>
            </a:r>
            <a:r>
              <a:rPr kumimoji="1" lang="ja-JP" altLang="en-US" sz="1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開幕</a:t>
            </a:r>
          </a:p>
        </p:txBody>
      </p:sp>
    </p:spTree>
    <p:extLst>
      <p:ext uri="{BB962C8B-B14F-4D97-AF65-F5344CB8AC3E}">
        <p14:creationId xmlns:p14="http://schemas.microsoft.com/office/powerpoint/2010/main" val="1745535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E27039-9568-144A-9E91-3B61FB565D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06286" y="1187630"/>
            <a:ext cx="9570720" cy="3173122"/>
          </a:xfrm>
        </p:spPr>
        <p:txBody>
          <a:bodyPr>
            <a:normAutofit/>
          </a:bodyPr>
          <a:lstStyle/>
          <a:p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サブリーダー向け資料</a:t>
            </a:r>
            <a:br>
              <a:rPr kumimoji="1"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FA60BD1-FA32-484F-807E-37BB2EC217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17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742774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サブリーダーについて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権限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/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責任があるだけで偉いわけではない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あくまでもクラン運営するための雑用係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→それでもやってくれている方々、ありがとう</a:t>
            </a:r>
            <a:endParaRPr lang="en-US" altLang="ja-JP" sz="20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運営系と実務系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ガチ戦指揮官など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で分ける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ヘルプは気兼ねなく出すこと！モチベ落ちたとかで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OK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→いずれ復帰できるならサブリーダーとして残す、未定なら外す</a:t>
            </a:r>
            <a:b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→ここは明確にしないと他のサブリーダーに示しがつかない</a:t>
            </a:r>
            <a:endParaRPr lang="en-US" altLang="ja-JP" sz="20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18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6854861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サブリーダーの仕事：運営系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方針について問題が発生した時の話し合い</a:t>
            </a: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スケジュール管理</a:t>
            </a: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イベント関連の交渉役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リーグ戦メンバー管理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その他、クランのためになること色々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19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4583496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サブリーダーの仕事：実務系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配置関係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作成や相談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endParaRPr lang="ja-JP" altLang="en-US" sz="200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プランニング相談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ガチ戦メンバー選定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その他、ガチ戦で勝つためのこと色々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20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7989972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サブリーダーの仕事：共通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対戦ポチ</a:t>
            </a: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放置や荒らしのキック</a:t>
            </a: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宣伝、勧誘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→勧誘の仕方については注意を払うこと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→他所のクランの人を誘わない、トラブルの元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21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9645205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サブリーダー</a:t>
            </a:r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のリソース配分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22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2FDDAFCE-9F06-1E48-A9CB-C2ECBD65C4BB}"/>
              </a:ext>
            </a:extLst>
          </p:cNvPr>
          <p:cNvSpPr/>
          <p:nvPr/>
        </p:nvSpPr>
        <p:spPr>
          <a:xfrm>
            <a:off x="1523997" y="1426605"/>
            <a:ext cx="3214553" cy="61991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TOMARIGI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D4895562-9AEE-154C-8FE4-41D01D6A105E}"/>
              </a:ext>
            </a:extLst>
          </p:cNvPr>
          <p:cNvSpPr/>
          <p:nvPr/>
        </p:nvSpPr>
        <p:spPr>
          <a:xfrm>
            <a:off x="4776645" y="1426605"/>
            <a:ext cx="3214553" cy="619910"/>
          </a:xfrm>
          <a:prstGeom prst="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</a:t>
            </a:r>
            <a: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kumimoji="1"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摩天楼</a:t>
            </a:r>
            <a: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48A628B8-2066-EF4F-829E-FEC0F3006B7E}"/>
              </a:ext>
            </a:extLst>
          </p:cNvPr>
          <p:cNvSpPr/>
          <p:nvPr/>
        </p:nvSpPr>
        <p:spPr>
          <a:xfrm>
            <a:off x="8029293" y="1426605"/>
            <a:ext cx="3214553" cy="61991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YADORIGI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EC9B580A-40D6-C048-8415-0C208DDDFF71}"/>
              </a:ext>
            </a:extLst>
          </p:cNvPr>
          <p:cNvSpPr/>
          <p:nvPr/>
        </p:nvSpPr>
        <p:spPr>
          <a:xfrm>
            <a:off x="1523997" y="2106131"/>
            <a:ext cx="3214553" cy="2351631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1400" u="sng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魔王様⑭⑬</a:t>
            </a:r>
            <a:r>
              <a:rPr lang="en-US" altLang="ja-JP" sz="1400" u="sng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</a:t>
            </a:r>
            <a:r>
              <a:rPr lang="ja-JP" altLang="en-US" sz="1400" u="sng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責任者</a:t>
            </a:r>
            <a:r>
              <a:rPr lang="en-US" altLang="ja-JP" sz="1400" u="sng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en-US" altLang="ja-JP" sz="1400" dirty="0" err="1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bigtree</a:t>
            </a:r>
            <a:r>
              <a:rPr lang="en-US" altLang="ja-JP" sz="1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⑭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1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ふるはた⑭</a:t>
            </a:r>
            <a:endParaRPr lang="en-US" altLang="ja-JP" sz="1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en-US" altLang="ja-JP" sz="1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121</a:t>
            </a:r>
            <a:r>
              <a:rPr lang="ja-JP" altLang="en-US" sz="1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⑭⑬</a:t>
            </a:r>
            <a:endParaRPr kumimoji="1" lang="en-US" altLang="ja-JP" sz="1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1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くい助⑭⑬</a:t>
            </a:r>
            <a:endParaRPr kumimoji="1" lang="en-US" altLang="ja-JP" sz="1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ja-JP" sz="1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OB</a:t>
            </a:r>
            <a:r>
              <a:rPr lang="ja-JP" altLang="en-US" sz="1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ハンター</a:t>
            </a:r>
            <a:r>
              <a:rPr lang="ja-JP" altLang="en-US" sz="14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⑬</a:t>
            </a:r>
            <a:endParaRPr lang="en-US" altLang="ja-JP" sz="1400" dirty="0">
              <a:solidFill>
                <a:srgbClr val="FF000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1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ころ助</a:t>
            </a:r>
            <a:r>
              <a:rPr lang="ja-JP" altLang="en-US" sz="14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⑬</a:t>
            </a:r>
            <a:endParaRPr kumimoji="1" lang="en-US" altLang="ja-JP" sz="1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kumimoji="1" lang="en-US" altLang="ja-JP" sz="1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932ECC1F-1F70-AE49-88E9-D525F2F3B578}"/>
              </a:ext>
            </a:extLst>
          </p:cNvPr>
          <p:cNvSpPr/>
          <p:nvPr/>
        </p:nvSpPr>
        <p:spPr>
          <a:xfrm>
            <a:off x="4776645" y="2106131"/>
            <a:ext cx="3214553" cy="2351631"/>
          </a:xfrm>
          <a:prstGeom prst="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1400" u="sng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ゴドルフィン⑬⑬⑬⑬</a:t>
            </a:r>
            <a:r>
              <a:rPr lang="en-US" altLang="ja-JP" sz="1400" u="sng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⑫ (</a:t>
            </a:r>
            <a:r>
              <a:rPr lang="ja-JP" altLang="en-US" sz="1400" u="sng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責任者</a:t>
            </a:r>
            <a:r>
              <a:rPr lang="en-US" altLang="ja-JP" sz="1400" u="sng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ja-JP" sz="1400" dirty="0" err="1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bigtree</a:t>
            </a:r>
            <a:r>
              <a:rPr lang="ja-JP" altLang="en-US" sz="1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⑬</a:t>
            </a:r>
            <a:endParaRPr lang="en-US" altLang="ja-JP" sz="1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1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ころ助⑬</a:t>
            </a:r>
            <a:r>
              <a:rPr lang="en-US" altLang="ja-JP" sz="1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⑫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1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ふるはた⑬</a:t>
            </a:r>
            <a:r>
              <a:rPr lang="en-US" altLang="ja-JP" sz="1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⑫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C8791A8C-A6C7-644A-BDE7-41C7332643DC}"/>
              </a:ext>
            </a:extLst>
          </p:cNvPr>
          <p:cNvSpPr/>
          <p:nvPr/>
        </p:nvSpPr>
        <p:spPr>
          <a:xfrm>
            <a:off x="8029293" y="2106131"/>
            <a:ext cx="3214553" cy="2351631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1400" u="sng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ふるはた</a:t>
            </a:r>
            <a:r>
              <a:rPr lang="en-US" altLang="ja-JP" sz="1400" u="sng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</a:t>
            </a:r>
            <a:r>
              <a:rPr lang="ja-JP" altLang="en-US" sz="1400" u="sng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責任者</a:t>
            </a:r>
            <a:r>
              <a:rPr lang="en-US" altLang="ja-JP" sz="1400" u="sng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endParaRPr kumimoji="1" lang="en-US" altLang="ja-JP" sz="1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1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サブリーダー</a:t>
            </a:r>
            <a:r>
              <a:rPr kumimoji="1" lang="ja-JP" altLang="en-US" sz="1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の低タウンホール垢</a:t>
            </a:r>
            <a:endParaRPr kumimoji="1" lang="en-US" altLang="ja-JP" sz="1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ja-JP" sz="1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r>
              <a:rPr kumimoji="1" lang="ja-JP" altLang="en-US" sz="1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</a:t>
            </a:r>
            <a:r>
              <a:rPr kumimoji="1" lang="en-US" altLang="ja-JP" sz="1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※</a:t>
            </a:r>
            <a:r>
              <a:rPr lang="ja-JP" altLang="en-US" sz="1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細々とクランレベル上げる</a:t>
            </a:r>
            <a:endParaRPr kumimoji="1" lang="en-US" altLang="ja-JP" sz="1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E6761229-81E3-F849-80CF-A17F90FF6E25}"/>
              </a:ext>
            </a:extLst>
          </p:cNvPr>
          <p:cNvSpPr/>
          <p:nvPr/>
        </p:nvSpPr>
        <p:spPr>
          <a:xfrm>
            <a:off x="1523997" y="4517378"/>
            <a:ext cx="3214553" cy="1639582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1400" u="sng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魔王様⑭</a:t>
            </a:r>
            <a:r>
              <a:rPr lang="en-US" altLang="ja-JP" sz="1400" u="sng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</a:t>
            </a:r>
            <a:r>
              <a:rPr lang="ja-JP" altLang="en-US" sz="1400" u="sng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責任者</a:t>
            </a:r>
            <a:r>
              <a:rPr lang="en-US" altLang="ja-JP" sz="1400" u="sng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ja-JP" sz="1400" dirty="0" err="1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bigtree</a:t>
            </a:r>
            <a:r>
              <a:rPr lang="en-US" altLang="ja-JP" sz="1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⑭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1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ふるはた⑭</a:t>
            </a:r>
            <a:endParaRPr lang="en-US" altLang="ja-JP" sz="1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ja-JP" sz="1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121</a:t>
            </a:r>
            <a:r>
              <a:rPr lang="ja-JP" altLang="en-US" sz="1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⑭</a:t>
            </a:r>
            <a:endParaRPr lang="en-US" altLang="ja-JP" sz="1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1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くい助⑭</a:t>
            </a:r>
            <a:endParaRPr lang="en-US" altLang="ja-JP" sz="1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4D154756-01B9-3D48-8463-7608C3A99068}"/>
              </a:ext>
            </a:extLst>
          </p:cNvPr>
          <p:cNvSpPr/>
          <p:nvPr/>
        </p:nvSpPr>
        <p:spPr>
          <a:xfrm>
            <a:off x="4776645" y="4517378"/>
            <a:ext cx="3214553" cy="1639582"/>
          </a:xfrm>
          <a:prstGeom prst="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1400" u="sng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ゴドルフィン⑬⑬⑬</a:t>
            </a:r>
            <a:r>
              <a:rPr lang="en-US" altLang="ja-JP" sz="1400" u="sng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⑬⑫ (</a:t>
            </a:r>
            <a:r>
              <a:rPr lang="ja-JP" altLang="en-US" sz="1400" u="sng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責任者</a:t>
            </a:r>
            <a:r>
              <a:rPr lang="en-US" altLang="ja-JP" sz="1400" u="sng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ja-JP" sz="1400" dirty="0" err="1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bigtree</a:t>
            </a:r>
            <a:r>
              <a:rPr lang="ja-JP" altLang="en-US" sz="1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⑬</a:t>
            </a:r>
            <a:endParaRPr lang="en-US" altLang="ja-JP" sz="1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1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ころ助⑬</a:t>
            </a:r>
            <a:r>
              <a:rPr lang="en-US" altLang="ja-JP" sz="1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⑫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36040D20-2BF5-6845-80C0-F2F4FC80A590}"/>
              </a:ext>
            </a:extLst>
          </p:cNvPr>
          <p:cNvSpPr/>
          <p:nvPr/>
        </p:nvSpPr>
        <p:spPr>
          <a:xfrm>
            <a:off x="8029293" y="4517378"/>
            <a:ext cx="3214553" cy="1639582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1400" u="sng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ふるはた⑬</a:t>
            </a:r>
            <a:r>
              <a:rPr lang="en-US" altLang="ja-JP" sz="1400" u="sng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⑫ (</a:t>
            </a:r>
            <a:r>
              <a:rPr lang="ja-JP" altLang="en-US" sz="1400" u="sng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責任者</a:t>
            </a:r>
            <a:r>
              <a:rPr lang="en-US" altLang="ja-JP" sz="1400" u="sng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ja-JP" sz="1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121</a:t>
            </a:r>
            <a:r>
              <a:rPr lang="ja-JP" altLang="en-US" sz="1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⑬</a:t>
            </a:r>
            <a:endParaRPr lang="en-US" altLang="ja-JP" sz="1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1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くい助⑬</a:t>
            </a:r>
            <a:endParaRPr lang="en-US" altLang="ja-JP" sz="1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1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魔王様⑬</a:t>
            </a:r>
            <a:endParaRPr lang="en-US" altLang="ja-JP" sz="1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ja-JP" sz="1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OB</a:t>
            </a:r>
            <a:r>
              <a:rPr lang="ja-JP" altLang="en-US" sz="1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ハンター</a:t>
            </a:r>
            <a:r>
              <a:rPr lang="ja-JP" altLang="en-US" sz="14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⑬</a:t>
            </a:r>
            <a:endParaRPr lang="en-US" altLang="ja-JP" sz="1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1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ころ助</a:t>
            </a:r>
            <a:r>
              <a:rPr lang="ja-JP" altLang="en-US" sz="14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⑬</a:t>
            </a:r>
            <a:endParaRPr lang="en-US" altLang="ja-JP" sz="1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3B4B5020-D7C7-444D-9985-0FC48ED5AE4C}"/>
              </a:ext>
            </a:extLst>
          </p:cNvPr>
          <p:cNvSpPr/>
          <p:nvPr/>
        </p:nvSpPr>
        <p:spPr>
          <a:xfrm>
            <a:off x="768528" y="2106131"/>
            <a:ext cx="699956" cy="2351631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通常時</a:t>
            </a:r>
            <a:endParaRPr kumimoji="1"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0E023B14-47C4-3944-97DA-B4E38E65FC16}"/>
              </a:ext>
            </a:extLst>
          </p:cNvPr>
          <p:cNvSpPr/>
          <p:nvPr/>
        </p:nvSpPr>
        <p:spPr>
          <a:xfrm>
            <a:off x="768528" y="4517378"/>
            <a:ext cx="699956" cy="1639582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リーグ時</a:t>
            </a:r>
            <a:endParaRPr kumimoji="1"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319393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RedLineBusiness_16x9">
      <a:dk1>
        <a:srgbClr val="514A40"/>
      </a:dk1>
      <a:lt1>
        <a:sysClr val="window" lastClr="FFFFFF"/>
      </a:lt1>
      <a:dk2>
        <a:srgbClr val="000000"/>
      </a:dk2>
      <a:lt2>
        <a:srgbClr val="F9F7F3"/>
      </a:lt2>
      <a:accent1>
        <a:srgbClr val="A85229"/>
      </a:accent1>
      <a:accent2>
        <a:srgbClr val="98916E"/>
      </a:accent2>
      <a:accent3>
        <a:srgbClr val="C9A645"/>
      </a:accent3>
      <a:accent4>
        <a:srgbClr val="76A7B2"/>
      </a:accent4>
      <a:accent5>
        <a:srgbClr val="82A670"/>
      </a:accent5>
      <a:accent6>
        <a:srgbClr val="896170"/>
      </a:accent6>
      <a:hlink>
        <a:srgbClr val="A85229"/>
      </a:hlink>
      <a:folHlink>
        <a:srgbClr val="98916E"/>
      </a:folHlink>
    </a:clrScheme>
    <a:fontScheme name="Cambria">
      <a:majorFont>
        <a:latin typeface="Cambri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mbri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57000"/>
                <a:satMod val="101000"/>
              </a:schemeClr>
            </a:gs>
            <a:gs pos="50000">
              <a:schemeClr val="phClr">
                <a:lumMod val="137000"/>
                <a:satMod val="103000"/>
              </a:schemeClr>
            </a:gs>
            <a:gs pos="100000">
              <a:schemeClr val="phClr">
                <a:lumMod val="11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18000"/>
              </a:schemeClr>
            </a:gs>
            <a:gs pos="50000">
              <a:schemeClr val="phClr">
                <a:satMod val="89000"/>
                <a:lumMod val="91000"/>
              </a:schemeClr>
            </a:gs>
            <a:gs pos="100000">
              <a:schemeClr val="phClr">
                <a:lumMod val="6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atMod val="100000"/>
                <a:shade val="0"/>
              </a:schemeClr>
            </a:gs>
            <a:gs pos="0">
              <a:scrgbClr r="0" g="0" b="0"/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テーマ">
  <a:themeElements>
    <a:clrScheme name="RedLineBusiness_16x9">
      <a:dk1>
        <a:srgbClr val="514A40"/>
      </a:dk1>
      <a:lt1>
        <a:sysClr val="window" lastClr="FFFFFF"/>
      </a:lt1>
      <a:dk2>
        <a:srgbClr val="000000"/>
      </a:dk2>
      <a:lt2>
        <a:srgbClr val="F9F7F3"/>
      </a:lt2>
      <a:accent1>
        <a:srgbClr val="A85229"/>
      </a:accent1>
      <a:accent2>
        <a:srgbClr val="98916E"/>
      </a:accent2>
      <a:accent3>
        <a:srgbClr val="C9A645"/>
      </a:accent3>
      <a:accent4>
        <a:srgbClr val="76A7B2"/>
      </a:accent4>
      <a:accent5>
        <a:srgbClr val="82A670"/>
      </a:accent5>
      <a:accent6>
        <a:srgbClr val="896170"/>
      </a:accent6>
      <a:hlink>
        <a:srgbClr val="A85229"/>
      </a:hlink>
      <a:folHlink>
        <a:srgbClr val="98916E"/>
      </a:folHlink>
    </a:clrScheme>
    <a:fontScheme name="Cambria">
      <a:majorFont>
        <a:latin typeface="Cambri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mbri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57000"/>
                <a:satMod val="101000"/>
              </a:schemeClr>
            </a:gs>
            <a:gs pos="50000">
              <a:schemeClr val="phClr">
                <a:lumMod val="137000"/>
                <a:satMod val="103000"/>
              </a:schemeClr>
            </a:gs>
            <a:gs pos="100000">
              <a:schemeClr val="phClr">
                <a:lumMod val="11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18000"/>
              </a:schemeClr>
            </a:gs>
            <a:gs pos="50000">
              <a:schemeClr val="phClr">
                <a:satMod val="89000"/>
                <a:lumMod val="91000"/>
              </a:schemeClr>
            </a:gs>
            <a:gs pos="100000">
              <a:schemeClr val="phClr">
                <a:lumMod val="6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atMod val="100000"/>
                <a:shade val="0"/>
              </a:schemeClr>
            </a:gs>
            <a:gs pos="0">
              <a:scrgbClr r="0" g="0" b="0"/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2231</TotalTime>
  <Words>1036</Words>
  <Application>Microsoft Macintosh PowerPoint</Application>
  <PresentationFormat>ワイド画面</PresentationFormat>
  <Paragraphs>207</Paragraphs>
  <Slides>22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22</vt:i4>
      </vt:variant>
    </vt:vector>
  </HeadingPairs>
  <TitlesOfParts>
    <vt:vector size="29" baseType="lpstr">
      <vt:lpstr>Hiragino Maru Gothic Pro W4</vt:lpstr>
      <vt:lpstr>ＭＳ 明朝</vt:lpstr>
      <vt:lpstr>游ゴシック</vt:lpstr>
      <vt:lpstr>游ゴシック Light</vt:lpstr>
      <vt:lpstr>Arial</vt:lpstr>
      <vt:lpstr>Wingdings</vt:lpstr>
      <vt:lpstr>Office テーマ</vt:lpstr>
      <vt:lpstr> </vt:lpstr>
      <vt:lpstr>TOMARIGI 全体について</vt:lpstr>
      <vt:lpstr>クランルール</vt:lpstr>
      <vt:lpstr>クラン構成</vt:lpstr>
      <vt:lpstr>クラン「TOMARIGI」 </vt:lpstr>
      <vt:lpstr>クラン「TOMARIGI」</vt:lpstr>
      <vt:lpstr>クラン「TOMARIGI」</vt:lpstr>
      <vt:lpstr>クラン「TOMARIGI」</vt:lpstr>
      <vt:lpstr>クラン「まほらま〜摩天楼〜」 </vt:lpstr>
      <vt:lpstr>クラン「まほらま〜摩天楼〜」</vt:lpstr>
      <vt:lpstr>クラン「まほらま〜摩天楼〜」</vt:lpstr>
      <vt:lpstr>クラン「YADORIGI」 </vt:lpstr>
      <vt:lpstr>クラン「YADORIGI」</vt:lpstr>
      <vt:lpstr>で、結局どこに所属すれば良いの？</vt:lpstr>
      <vt:lpstr>サブリーダー(運営陣)のご紹介</vt:lpstr>
      <vt:lpstr>ざっくりスケジュール(2021年)</vt:lpstr>
      <vt:lpstr>サブリーダー向け資料 </vt:lpstr>
      <vt:lpstr>サブリーダーについて</vt:lpstr>
      <vt:lpstr>サブリーダーの仕事：運営系</vt:lpstr>
      <vt:lpstr>サブリーダーの仕事：実務系</vt:lpstr>
      <vt:lpstr>サブリーダーの仕事：共通</vt:lpstr>
      <vt:lpstr>サブリーダーのリソース配分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/>
  <cp:lastModifiedBy>東俊実</cp:lastModifiedBy>
  <cp:revision>391</cp:revision>
  <dcterms:created xsi:type="dcterms:W3CDTF">2017-03-02T10:44:30Z</dcterms:created>
  <dcterms:modified xsi:type="dcterms:W3CDTF">2021-05-13T05:57:36Z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0x010100AA3F7D94069FF64A86F7DFF56D60E3BE</vt:lpwstr>
  </property>
</Properties>
</file>