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358" r:id="rId4"/>
    <p:sldId id="359" r:id="rId5"/>
    <p:sldId id="361" r:id="rId6"/>
    <p:sldId id="362" r:id="rId7"/>
    <p:sldId id="360" r:id="rId8"/>
    <p:sldId id="363" r:id="rId9"/>
    <p:sldId id="3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301B821-A1FF-4177-AEE7-76D212191A0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86" autoAdjust="0"/>
    <p:restoredTop sz="94614" autoAdjust="0"/>
  </p:normalViewPr>
  <p:slideViewPr>
    <p:cSldViewPr snapToGrid="0">
      <p:cViewPr varScale="1">
        <p:scale>
          <a:sx n="147" d="100"/>
          <a:sy n="147" d="100"/>
        </p:scale>
        <p:origin x="1720" y="20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77BA10-896D-4834-9242-9D6C84DAB17A}" type="datetime4">
              <a:rPr lang="ja-JP" altLang="en-US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2021年4月23日</a:t>
            </a:fld>
            <a:endParaRPr lang="en-US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840BD58-3BFF-4EAF-BB8B-AC67FE801E47}" type="slidenum">
              <a:rPr lang="en-US" altLang="ja-JP" smtClean="0">
                <a:latin typeface="ＭＳ 明朝" panose="02020609040205080304" pitchFamily="17" charset="-128"/>
                <a:ea typeface="ＭＳ 明朝" panose="02020609040205080304" pitchFamily="17" charset="-128"/>
              </a:rPr>
              <a:t>‹#›</a:t>
            </a:fld>
            <a:endParaRPr lang="ja-JP" altLang="en-US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05943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30389980-3DE9-4702-8CE7-20043EFDAF6C}" type="datetime4">
              <a:rPr lang="ja-JP" altLang="en-US" smtClean="0"/>
              <a:pPr/>
              <a:t>2021年4月23日</a:t>
            </a:fld>
            <a:endParaRPr 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ja-JP" altLang="en-US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ＭＳ 明朝" panose="02020609040205080304" pitchFamily="17" charset="-128"/>
                <a:ea typeface="ＭＳ 明朝" panose="02020609040205080304" pitchFamily="17" charset="-128"/>
              </a:defRPr>
            </a:lvl1pPr>
          </a:lstStyle>
          <a:p>
            <a:fld id="{68322CDD-9D6C-4F63-9EC2-648226624108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8510265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ＭＳ 明朝" panose="02020609040205080304" pitchFamily="17" charset="-128"/>
        <a:ea typeface="ＭＳ 明朝" panose="02020609040205080304" pitchFamily="17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D444BD-A135-BA48-91DB-D3A94B79F9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7701A2B-F8B6-0247-8DCA-D1ABF4979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A7D304-86F3-F047-8C8B-BF3E840DD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D3B2F-B41F-7942-990C-7D7FFD69CA5F}" type="datetimeFigureOut">
              <a:rPr kumimoji="1" lang="ja-JP" altLang="en-US" smtClean="0"/>
              <a:t>2021/4/23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872E23-705D-F648-AE31-065D21160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487525-C46B-9341-89C9-11164453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8EE82-CEDF-DA42-8547-6C9D07F67A16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長方形 7">
            <a:extLst>
              <a:ext uri="{FF2B5EF4-FFF2-40B4-BE49-F238E27FC236}">
                <a16:creationId xmlns:a16="http://schemas.microsoft.com/office/drawing/2014/main" id="{6EEF07FC-4B26-0845-9B6A-A27456BB2604}"/>
              </a:ext>
            </a:extLst>
          </p:cNvPr>
          <p:cNvSpPr/>
          <p:nvPr userDrawn="1"/>
        </p:nvSpPr>
        <p:spPr>
          <a:xfrm>
            <a:off x="0" y="5888736"/>
            <a:ext cx="12192000" cy="109728"/>
          </a:xfrm>
          <a:prstGeom prst="rect">
            <a:avLst/>
          </a:prstGeom>
          <a:ln>
            <a:noFill/>
          </a:ln>
          <a:effectLst>
            <a:outerShdw blurRad="25400" dist="25400" dir="5400000" algn="t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6372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E19E9A-E284-0447-A739-3B3BA8B13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5BD3D5-B8D4-334D-B645-9C284A482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BB57477-C47A-E54B-88C3-7CB302E48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293553-851E-E547-A56E-8321D9FE8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8E9FF9-218E-C540-9899-D4481C1DD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42938422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1E664E-D85E-0842-A134-DB17BFC0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6A6DE3-563D-8A47-A4AE-34AF0B500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87A73D-8C04-B948-A60C-FA1BF545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5040AE-AB59-F54D-AEAD-659B2FD32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D469C0-C182-0F48-B1D7-ED75131D3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80528983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98E66D-BF04-0E4E-8C43-6DA0C53E5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9A5A49-6BAF-E646-B923-63B4C8BD0F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86B4BDB-6F96-494E-B75F-54A6F1DD2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2A7B09C-2EA1-CF46-B677-A87FBBA4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55C94B-393D-F042-9893-7D0FE5368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0DC901-8B1B-9942-A693-6C365CE8F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4864542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98431E-BF7F-B643-9732-C58E50B07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80530F-EDAE-A04A-959F-04FFB5916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FA9A27B-E8DA-2A43-9E6C-4E28C6495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2D4AFFD-EC12-9F4F-A66F-8E1CA65B7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1C73567-33DD-1446-B57A-4A8D3C1214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03C4587-5951-AE40-98EC-000C8348B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B8797D5-BA03-FD4F-9766-3645C482D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C2F01D1-340A-B848-9A18-8AC0AA21F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4439662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DDC320-87B3-9240-9F12-5A4E931D7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C328F43-1148-F640-A232-835EBF9EA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990A5E6-C7ED-974B-A5DA-1ED34A27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ja-JP" altLang="en-US" noProof="0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9B7DB38-D7EA-2E45-B784-6CE9E425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10921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E145497-DA82-9B4A-8975-6E631D370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BACD022-6274-D74C-807F-26568E95B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04A5FB-177C-3949-9977-281F0ED6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7872741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2AC5E6-D1F5-0741-9A95-8DA925002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60DF96-FDCC-2248-A0BA-3FF5430D4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F23B4F-43AB-CF42-854E-506F8AA7B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228205A-07EC-B04A-AFB2-986A6BD56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791BC3C-3F90-9244-8676-E2EAE0468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59A304-D1F0-714E-ABB0-C307AD847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4532606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B52ED7-D0B7-A94A-9D43-79CDE2D8B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940C5EC-53A1-774F-935B-8F3FA2472C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A69FE42-5383-7340-8BFF-A05FC3C16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56DDAC4-2F89-574F-AF28-91DF0C6EA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7C6BA52-8E5E-994C-9083-F26C763F3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A56643-7882-B841-88E7-2029D1D27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5914923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180A3-8BCB-6D4A-9484-CDA70E587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2F207EA-E990-C34F-9670-1E0C43D6D0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3A9939-599B-A444-B4E6-0C6D97056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49BD4C-D028-7749-AD00-61C028088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1EAE97-38FC-E147-9A1F-D22088D6F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29321558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3B90592-6965-BD48-BBB2-B201EA57C7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4F35AD2-C676-624B-B883-6E1E60151B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4BF2B8-E29D-F945-B061-FAE837F8B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50F5FA2-B055-0644-BFD0-1A4AAF7A9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E4A748-7D9F-BC45-9AB3-08EF79442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75905444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0FD5521-8A3B-8B41-BFDC-4B6A866B3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70B859-1202-AD48-8158-D8352800F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A2D54D-5D60-2C4B-84D5-1F47A4EBC9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C14571-F7CC-FD42-8F2C-7392466F04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945EF07-AB40-CB40-B618-13C37B4AE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375A4-56A4-47D6-9801-1991572033F7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7" name="長方形 7">
            <a:extLst>
              <a:ext uri="{FF2B5EF4-FFF2-40B4-BE49-F238E27FC236}">
                <a16:creationId xmlns:a16="http://schemas.microsoft.com/office/drawing/2014/main" id="{81498219-8C3B-FE4D-8C6C-D8803793612A}"/>
              </a:ext>
            </a:extLst>
          </p:cNvPr>
          <p:cNvSpPr/>
          <p:nvPr userDrawn="1"/>
        </p:nvSpPr>
        <p:spPr>
          <a:xfrm>
            <a:off x="0" y="6257036"/>
            <a:ext cx="12192000" cy="54864"/>
          </a:xfrm>
          <a:prstGeom prst="rect">
            <a:avLst/>
          </a:prstGeom>
          <a:ln>
            <a:noFill/>
          </a:ln>
          <a:effectLst>
            <a:innerShdw blurRad="25400" dist="12700" dir="16200000">
              <a:schemeClr val="accent1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ja-JP" altLang="en-US" noProof="0" dirty="0">
              <a:latin typeface="ＭＳ 明朝" panose="02020609040205080304" pitchFamily="17" charset="-128"/>
              <a:ea typeface="ＭＳ 明朝" panose="02020609040205080304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4784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スライド番号プレースホルダー 3">
            <a:extLst>
              <a:ext uri="{FF2B5EF4-FFF2-40B4-BE49-F238E27FC236}">
                <a16:creationId xmlns:a16="http://schemas.microsoft.com/office/drawing/2014/main" id="{F96F847E-5434-C446-87EA-885B1EDE2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8D677A4-8278-4C4C-B55F-CF7C9590D473}"/>
              </a:ext>
            </a:extLst>
          </p:cNvPr>
          <p:cNvSpPr/>
          <p:nvPr/>
        </p:nvSpPr>
        <p:spPr>
          <a:xfrm>
            <a:off x="0" y="5554151"/>
            <a:ext cx="12192000" cy="8181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748F65EA-CF63-F445-8117-0186D58FCA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 </a:t>
            </a:r>
            <a:endParaRPr lang="ja-JP" altLang="en-US"/>
          </a:p>
        </p:txBody>
      </p:sp>
      <p:pic>
        <p:nvPicPr>
          <p:cNvPr id="7" name="図 6" descr="アイコン が含まれている画像&#10;&#10;自動的に生成された説明">
            <a:extLst>
              <a:ext uri="{FF2B5EF4-FFF2-40B4-BE49-F238E27FC236}">
                <a16:creationId xmlns:a16="http://schemas.microsoft.com/office/drawing/2014/main" id="{95AEAE40-4C67-364A-87B6-7E0DE9669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03" y="1053892"/>
            <a:ext cx="10415451" cy="468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99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クラン方針、目指すクランの姿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高いモチベーションの人にとって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　居心地の良いクランであること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強いクランであること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2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2791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クラン目標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クランリーグ戦：チャンピオン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Ⅰ</a:t>
            </a: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 J1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への昇格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CWL Elite 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への挑戦 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プレーオフ進出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海外リーグの制覇 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(EWL,MLCW,GCC,FWL 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等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3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20325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行動指針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野良戦はゆるく</a:t>
            </a: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リーグ戦はガチ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などのイベントはもちろんガチ</a:t>
            </a: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イベントは率先して出る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4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5922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クランルール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こまかいルールは設けません。以下だけです。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援軍のお礼禁止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クランメンバーへのリスペクトを忘れないこと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5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2164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ガチ戦について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全力で戦っていただきます。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などのイベント戦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クランリーグ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そこに負けられない戦いがあるとき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None/>
            </a:pP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6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4544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クラン運営陣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責任の所在を明確にするために記載しておきます。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困ったことがありましたら気軽に相談してください。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dirty="0" err="1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bigtree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ゴドルフィン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魔王様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くい助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121</a:t>
            </a:r>
          </a:p>
          <a:p>
            <a:pPr marL="502920" indent="-457200"/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7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09755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ざっくりスケジュール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(2021</a:t>
            </a: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年</a:t>
            </a:r>
            <a: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8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graphicFrame>
        <p:nvGraphicFramePr>
          <p:cNvPr id="9" name="表 9">
            <a:extLst>
              <a:ext uri="{FF2B5EF4-FFF2-40B4-BE49-F238E27FC236}">
                <a16:creationId xmlns:a16="http://schemas.microsoft.com/office/drawing/2014/main" id="{6130C05C-3439-7C43-9B3B-6F931AA148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3286105"/>
              </p:ext>
            </p:extLst>
          </p:nvPr>
        </p:nvGraphicFramePr>
        <p:xfrm>
          <a:off x="838200" y="1469209"/>
          <a:ext cx="10515600" cy="3297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108413189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14104906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05287549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95923717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79439682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92921522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671341228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133953645"/>
                    </a:ext>
                  </a:extLst>
                </a:gridCol>
              </a:tblGrid>
              <a:tr h="418848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5</a:t>
                      </a:r>
                      <a:r>
                        <a:rPr kumimoji="1" lang="ja-JP" altLang="en-US" sz="1800"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6</a:t>
                      </a:r>
                      <a:r>
                        <a:rPr kumimoji="1" lang="ja-JP" altLang="en-US" sz="1800"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7</a:t>
                      </a:r>
                      <a:r>
                        <a:rPr kumimoji="1" lang="ja-JP" altLang="en-US" sz="1800"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8</a:t>
                      </a:r>
                      <a:r>
                        <a:rPr kumimoji="1" lang="ja-JP" altLang="en-US" sz="1800"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9</a:t>
                      </a:r>
                      <a:r>
                        <a:rPr kumimoji="1" lang="ja-JP" altLang="en-US" sz="1800"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10</a:t>
                      </a:r>
                      <a:r>
                        <a:rPr kumimoji="1" lang="ja-JP" altLang="en-US" sz="1800"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11</a:t>
                      </a:r>
                      <a:r>
                        <a:rPr kumimoji="1" lang="ja-JP" altLang="en-US" sz="1800"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800" dirty="0"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12</a:t>
                      </a:r>
                      <a:r>
                        <a:rPr kumimoji="1" lang="ja-JP" altLang="en-US" sz="1800">
                          <a:latin typeface="Hiragino Maru Gothic Pro W4" panose="020F0400000000000000" pitchFamily="34" charset="-128"/>
                          <a:ea typeface="Hiragino Maru Gothic Pro W4" panose="020F0400000000000000" pitchFamily="34" charset="-128"/>
                        </a:rPr>
                        <a:t>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7376142"/>
                  </a:ext>
                </a:extLst>
              </a:tr>
              <a:tr h="576469"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8325545"/>
                  </a:ext>
                </a:extLst>
              </a:tr>
              <a:tr h="575545"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318526"/>
                  </a:ext>
                </a:extLst>
              </a:tr>
              <a:tr h="575545"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en-US" altLang="ja-JP" sz="1800" dirty="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898879"/>
                  </a:ext>
                </a:extLst>
              </a:tr>
              <a:tr h="575545"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en-US" altLang="ja-JP" sz="1800" dirty="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3483298"/>
                  </a:ext>
                </a:extLst>
              </a:tr>
              <a:tr h="575545"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en-US" altLang="ja-JP" sz="1800" dirty="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>
                        <a:latin typeface="Hiragino Maru Gothic Pro W4" panose="020F0400000000000000" pitchFamily="34" charset="-128"/>
                        <a:ea typeface="Hiragino Maru Gothic Pro W4" panose="020F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245242"/>
                  </a:ext>
                </a:extLst>
              </a:tr>
            </a:tbl>
          </a:graphicData>
        </a:graphic>
      </p:graphicFrame>
      <p:sp>
        <p:nvSpPr>
          <p:cNvPr id="11" name="右矢印 10">
            <a:extLst>
              <a:ext uri="{FF2B5EF4-FFF2-40B4-BE49-F238E27FC236}">
                <a16:creationId xmlns:a16="http://schemas.microsoft.com/office/drawing/2014/main" id="{CF7E1CE0-C349-B249-B9A6-7016242E1173}"/>
              </a:ext>
            </a:extLst>
          </p:cNvPr>
          <p:cNvSpPr/>
          <p:nvPr/>
        </p:nvSpPr>
        <p:spPr>
          <a:xfrm>
            <a:off x="1047206" y="2504833"/>
            <a:ext cx="4145278" cy="484632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ファーミング期間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9AF15DE-C36A-9B40-8117-70DFB841C7C1}"/>
              </a:ext>
            </a:extLst>
          </p:cNvPr>
          <p:cNvSpPr txBox="1"/>
          <p:nvPr/>
        </p:nvSpPr>
        <p:spPr>
          <a:xfrm>
            <a:off x="914401" y="2033756"/>
            <a:ext cx="16610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★</a:t>
            </a:r>
            <a:r>
              <a:rPr kumimoji="1"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TOMARIGI</a:t>
            </a:r>
            <a:r>
              <a:rPr kumimoji="1"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発足</a:t>
            </a:r>
          </a:p>
        </p:txBody>
      </p:sp>
      <p:sp>
        <p:nvSpPr>
          <p:cNvPr id="13" name="右矢印 12">
            <a:extLst>
              <a:ext uri="{FF2B5EF4-FFF2-40B4-BE49-F238E27FC236}">
                <a16:creationId xmlns:a16="http://schemas.microsoft.com/office/drawing/2014/main" id="{D9C86223-6F75-074C-8D72-32AA47EC3DCA}"/>
              </a:ext>
            </a:extLst>
          </p:cNvPr>
          <p:cNvSpPr/>
          <p:nvPr/>
        </p:nvSpPr>
        <p:spPr>
          <a:xfrm>
            <a:off x="5192484" y="3662835"/>
            <a:ext cx="4789716" cy="484632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 TH14 </a:t>
            </a:r>
            <a:r>
              <a:rPr kumimoji="1" lang="ja-JP" altLang="en-US" sz="12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期間</a:t>
            </a:r>
            <a:r>
              <a:rPr lang="en-US" altLang="ja-JP" sz="12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 (</a:t>
            </a:r>
            <a:r>
              <a:rPr lang="ja-JP" altLang="en-US" sz="12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多分</a:t>
            </a:r>
            <a:r>
              <a:rPr lang="en-US" altLang="ja-JP" sz="12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ja-JP" altLang="en-US" sz="120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4" name="右矢印 13">
            <a:extLst>
              <a:ext uri="{FF2B5EF4-FFF2-40B4-BE49-F238E27FC236}">
                <a16:creationId xmlns:a16="http://schemas.microsoft.com/office/drawing/2014/main" id="{345F93E6-70F0-EF45-8EC2-2441B0D5BE1C}"/>
              </a:ext>
            </a:extLst>
          </p:cNvPr>
          <p:cNvSpPr/>
          <p:nvPr/>
        </p:nvSpPr>
        <p:spPr>
          <a:xfrm>
            <a:off x="3524795" y="3085817"/>
            <a:ext cx="1667689" cy="484632"/>
          </a:xfrm>
          <a:prstGeom prst="rightArrow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kumimoji="1" lang="ja-JP" altLang="en-US" sz="12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準備期間</a:t>
            </a:r>
          </a:p>
        </p:txBody>
      </p:sp>
      <p:sp>
        <p:nvSpPr>
          <p:cNvPr id="15" name="右矢印 14">
            <a:extLst>
              <a:ext uri="{FF2B5EF4-FFF2-40B4-BE49-F238E27FC236}">
                <a16:creationId xmlns:a16="http://schemas.microsoft.com/office/drawing/2014/main" id="{E1C443FC-CE36-104B-A649-4DB01FE0734D}"/>
              </a:ext>
            </a:extLst>
          </p:cNvPr>
          <p:cNvSpPr/>
          <p:nvPr/>
        </p:nvSpPr>
        <p:spPr>
          <a:xfrm>
            <a:off x="8743406" y="4239853"/>
            <a:ext cx="2610394" cy="484632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2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何か海外リーグ</a:t>
            </a:r>
            <a:r>
              <a:rPr lang="en-US" altLang="ja-JP" sz="1200" dirty="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(TH14)</a:t>
            </a:r>
            <a:r>
              <a:rPr lang="ja-JP" altLang="en-US" sz="1200"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があれば</a:t>
            </a:r>
            <a:endParaRPr kumimoji="1" lang="ja-JP" altLang="en-US" sz="1200"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8D174F9-3D7A-1A47-9EAF-149B63BEF42E}"/>
              </a:ext>
            </a:extLst>
          </p:cNvPr>
          <p:cNvSpPr txBox="1"/>
          <p:nvPr/>
        </p:nvSpPr>
        <p:spPr>
          <a:xfrm>
            <a:off x="5172890" y="2029485"/>
            <a:ext cx="16273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★</a:t>
            </a:r>
            <a:r>
              <a:rPr kumimoji="1"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kumimoji="1"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開幕</a:t>
            </a:r>
            <a:r>
              <a:rPr kumimoji="1"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(</a:t>
            </a:r>
            <a:r>
              <a:rPr kumimoji="1" lang="ja-JP" altLang="en-US" sz="14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多分</a:t>
            </a:r>
            <a:r>
              <a:rPr kumimoji="1" lang="en-US" altLang="ja-JP" sz="14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)</a:t>
            </a:r>
            <a:endParaRPr kumimoji="1" lang="ja-JP" altLang="en-US" sz="140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18" name="コンテンツ プレースホルダー 2">
            <a:extLst>
              <a:ext uri="{FF2B5EF4-FFF2-40B4-BE49-F238E27FC236}">
                <a16:creationId xmlns:a16="http://schemas.microsoft.com/office/drawing/2014/main" id="{A4144376-1C58-F44F-A1D6-1232D832E4E8}"/>
              </a:ext>
            </a:extLst>
          </p:cNvPr>
          <p:cNvSpPr txBox="1">
            <a:spLocks/>
          </p:cNvSpPr>
          <p:nvPr/>
        </p:nvSpPr>
        <p:spPr>
          <a:xfrm>
            <a:off x="838200" y="4854998"/>
            <a:ext cx="10515600" cy="1354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Arial" panose="020B0604020202020204" pitchFamily="34" charset="0"/>
              <a:buNone/>
            </a:pP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ファーミング期間：とにかくファーミングしてください。ペットが憎い。</a:t>
            </a:r>
            <a:endParaRPr lang="en-US" altLang="ja-JP" sz="16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Font typeface="Arial" panose="020B0604020202020204" pitchFamily="34" charset="0"/>
              <a:buNone/>
            </a:pP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準備期間：色々。配置準備とか、戦術バランス取りとか、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5vs5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とか、練習試合とか。</a:t>
            </a:r>
            <a:endParaRPr lang="en-US" altLang="ja-JP" sz="16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Font typeface="Arial" panose="020B0604020202020204" pitchFamily="34" charset="0"/>
              <a:buNone/>
            </a:pP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JWC TH14 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期間：頑張りましょう。</a:t>
            </a:r>
            <a:endParaRPr lang="en-US" altLang="ja-JP" sz="16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45720" indent="0">
              <a:buFont typeface="Arial" panose="020B0604020202020204" pitchFamily="34" charset="0"/>
              <a:buNone/>
            </a:pP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何か海外リーグ：</a:t>
            </a:r>
            <a:r>
              <a:rPr lang="en-US" altLang="ja-JP" sz="1600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11</a:t>
            </a:r>
            <a:r>
              <a:rPr lang="ja-JP" altLang="en-US" sz="160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月くらいから余裕出ると思うので、適当に探します。</a:t>
            </a:r>
            <a:endParaRPr lang="en-US" altLang="ja-JP" sz="160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4553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EF2D4F-28AD-C84D-A4AC-A607D5B45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疲れたら・・・</a:t>
            </a:r>
            <a:endParaRPr kumimoji="1" lang="ja-JP" altLang="en-US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1E773B8-156E-4743-8E4A-3ED5FB7CC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575"/>
            <a:ext cx="10515600" cy="4588387"/>
          </a:xfrm>
        </p:spPr>
        <p:txBody>
          <a:bodyPr>
            <a:normAutofit/>
          </a:bodyPr>
          <a:lstStyle/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ゆっくりしましょう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  <a:p>
            <a:pPr marL="502920" indent="-457200"/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ファミリークランとして、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あっちゃん率いるファーミングクランがあるので</a:t>
            </a:r>
            <a:br>
              <a:rPr lang="en-US" altLang="ja-JP" dirty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</a:br>
            <a:r>
              <a:rPr lang="ja-JP" altLang="en-US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そこでゆっくりすることをオススメします</a:t>
            </a:r>
            <a:endParaRPr lang="en-US" altLang="ja-JP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C04C8D-49C3-874E-864D-A6289CA1E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E31375A4-56A4-47D6-9801-1991572033F7}" type="slidenum">
              <a:rPr lang="en-US" altLang="ja-JP" noProof="0" smtClean="0">
                <a:solidFill>
                  <a:schemeClr val="accent5">
                    <a:lumMod val="50000"/>
                  </a:schemeClr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9</a:t>
            </a:fld>
            <a:endParaRPr lang="ja-JP" altLang="en-US" noProof="0" dirty="0">
              <a:solidFill>
                <a:schemeClr val="accent5">
                  <a:lumMod val="50000"/>
                </a:schemeClr>
              </a:solidFill>
              <a:latin typeface="Hiragino Maru Gothic Pro W4" panose="020F0400000000000000" pitchFamily="34" charset="-128"/>
              <a:ea typeface="Hiragino Maru Gothic Pro W4" panose="020F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010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RedLineBusiness_16x9">
      <a:dk1>
        <a:srgbClr val="514A40"/>
      </a:dk1>
      <a:lt1>
        <a:sysClr val="window" lastClr="FFFFFF"/>
      </a:lt1>
      <a:dk2>
        <a:srgbClr val="000000"/>
      </a:dk2>
      <a:lt2>
        <a:srgbClr val="F9F7F3"/>
      </a:lt2>
      <a:accent1>
        <a:srgbClr val="A85229"/>
      </a:accent1>
      <a:accent2>
        <a:srgbClr val="98916E"/>
      </a:accent2>
      <a:accent3>
        <a:srgbClr val="C9A645"/>
      </a:accent3>
      <a:accent4>
        <a:srgbClr val="76A7B2"/>
      </a:accent4>
      <a:accent5>
        <a:srgbClr val="82A670"/>
      </a:accent5>
      <a:accent6>
        <a:srgbClr val="896170"/>
      </a:accent6>
      <a:hlink>
        <a:srgbClr val="A85229"/>
      </a:hlink>
      <a:folHlink>
        <a:srgbClr val="98916E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RedLineBusiness_16x9">
      <a:dk1>
        <a:srgbClr val="514A40"/>
      </a:dk1>
      <a:lt1>
        <a:sysClr val="window" lastClr="FFFFFF"/>
      </a:lt1>
      <a:dk2>
        <a:srgbClr val="000000"/>
      </a:dk2>
      <a:lt2>
        <a:srgbClr val="F9F7F3"/>
      </a:lt2>
      <a:accent1>
        <a:srgbClr val="A85229"/>
      </a:accent1>
      <a:accent2>
        <a:srgbClr val="98916E"/>
      </a:accent2>
      <a:accent3>
        <a:srgbClr val="C9A645"/>
      </a:accent3>
      <a:accent4>
        <a:srgbClr val="76A7B2"/>
      </a:accent4>
      <a:accent5>
        <a:srgbClr val="82A670"/>
      </a:accent5>
      <a:accent6>
        <a:srgbClr val="896170"/>
      </a:accent6>
      <a:hlink>
        <a:srgbClr val="A85229"/>
      </a:hlink>
      <a:folHlink>
        <a:srgbClr val="98916E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1951</TotalTime>
  <Words>304</Words>
  <Application>Microsoft Macintosh PowerPoint</Application>
  <PresentationFormat>ワイド画面</PresentationFormat>
  <Paragraphs>61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Hiragino Maru Gothic Pro W4</vt:lpstr>
      <vt:lpstr>ＭＳ 明朝</vt:lpstr>
      <vt:lpstr>游ゴシック</vt:lpstr>
      <vt:lpstr>游ゴシック Light</vt:lpstr>
      <vt:lpstr>Arial</vt:lpstr>
      <vt:lpstr>Office テーマ</vt:lpstr>
      <vt:lpstr> </vt:lpstr>
      <vt:lpstr>クラン方針、目指すクランの姿</vt:lpstr>
      <vt:lpstr>クラン目標</vt:lpstr>
      <vt:lpstr>行動指針</vt:lpstr>
      <vt:lpstr>クランルール</vt:lpstr>
      <vt:lpstr>ガチ戦について</vt:lpstr>
      <vt:lpstr>クラン運営陣</vt:lpstr>
      <vt:lpstr>ざっくりスケジュール(2021年)</vt:lpstr>
      <vt:lpstr>疲れたら・・・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/>
  <cp:lastModifiedBy>東俊実</cp:lastModifiedBy>
  <cp:revision>354</cp:revision>
  <dcterms:created xsi:type="dcterms:W3CDTF">2017-03-02T10:44:30Z</dcterms:created>
  <dcterms:modified xsi:type="dcterms:W3CDTF">2021-04-23T16:21:05Z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