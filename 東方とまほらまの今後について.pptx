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317" r:id="rId4"/>
    <p:sldId id="318" r:id="rId5"/>
    <p:sldId id="311" r:id="rId6"/>
    <p:sldId id="263" r:id="rId7"/>
    <p:sldId id="327" r:id="rId8"/>
    <p:sldId id="287" r:id="rId9"/>
    <p:sldId id="319" r:id="rId10"/>
    <p:sldId id="322" r:id="rId11"/>
    <p:sldId id="320" r:id="rId12"/>
    <p:sldId id="323" r:id="rId13"/>
    <p:sldId id="328" r:id="rId14"/>
    <p:sldId id="324" r:id="rId15"/>
    <p:sldId id="325" r:id="rId16"/>
    <p:sldId id="326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48" r:id="rId25"/>
    <p:sldId id="349" r:id="rId26"/>
    <p:sldId id="350" r:id="rId27"/>
    <p:sldId id="351" r:id="rId28"/>
    <p:sldId id="352" r:id="rId29"/>
    <p:sldId id="336" r:id="rId30"/>
    <p:sldId id="337" r:id="rId31"/>
    <p:sldId id="338" r:id="rId32"/>
    <p:sldId id="354" r:id="rId33"/>
    <p:sldId id="358" r:id="rId34"/>
    <p:sldId id="355" r:id="rId35"/>
    <p:sldId id="356" r:id="rId36"/>
    <p:sldId id="339" r:id="rId37"/>
    <p:sldId id="357" r:id="rId38"/>
    <p:sldId id="347" r:id="rId39"/>
    <p:sldId id="340" r:id="rId40"/>
    <p:sldId id="341" r:id="rId41"/>
    <p:sldId id="342" r:id="rId42"/>
    <p:sldId id="343" r:id="rId43"/>
    <p:sldId id="344" r:id="rId44"/>
    <p:sldId id="345" r:id="rId45"/>
    <p:sldId id="346" r:id="rId4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9" autoAdjust="0"/>
    <p:restoredTop sz="94614" autoAdjust="0"/>
  </p:normalViewPr>
  <p:slideViewPr>
    <p:cSldViewPr snapToGrid="0">
      <p:cViewPr varScale="1">
        <p:scale>
          <a:sx n="147" d="100"/>
          <a:sy n="147" d="100"/>
        </p:scale>
        <p:origin x="520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77BA10-896D-4834-9242-9D6C84DAB17A}" type="datetime4">
              <a:rPr lang="ja-JP" altLang="en-US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2021年4月26日</a:t>
            </a:fld>
            <a:endParaRPr lang="en-US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0BD58-3BFF-4EAF-BB8B-AC67FE801E47}" type="slidenum">
              <a:rPr lang="en-US" altLang="ja-JP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‹#›</a:t>
            </a:fld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30389980-3DE9-4702-8CE7-20043EFDAF6C}" type="datetime4">
              <a:rPr lang="ja-JP" altLang="en-US" smtClean="0"/>
              <a:pPr/>
              <a:t>2021年4月26日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68322CDD-9D6C-4F63-9EC2-648226624108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444BD-A135-BA48-91DB-D3A94B79F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701A2B-F8B6-0247-8DCA-D1ABF4979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A7D304-86F3-F047-8C8B-BF3E840D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3B2F-B41F-7942-990C-7D7FFD69CA5F}" type="datetimeFigureOut">
              <a:rPr kumimoji="1" lang="ja-JP" altLang="en-US" smtClean="0"/>
              <a:t>2021/4/26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72E23-705D-F648-AE31-065D2116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487525-C46B-9341-89C9-11164453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EE82-CEDF-DA42-8547-6C9D07F67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6EEF07FC-4B26-0845-9B6A-A27456BB2604}"/>
              </a:ext>
            </a:extLst>
          </p:cNvPr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37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19E9A-E284-0447-A739-3B3BA8B1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5BD3D5-B8D4-334D-B645-9C284A482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57477-C47A-E54B-88C3-7CB302E4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93553-851E-E547-A56E-8321D9FE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E9FF9-218E-C540-9899-D4481C1D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293842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E664E-D85E-0842-A134-DB17BFC0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6A6DE3-563D-8A47-A4AE-34AF0B50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87A73D-8C04-B948-A60C-FA1BF545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5040AE-AB59-F54D-AEAD-659B2FD3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469C0-C182-0F48-B1D7-ED75131D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0528983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98E66D-BF04-0E4E-8C43-6DA0C53E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9A5A49-6BAF-E646-B923-63B4C8BD0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6B4BDB-6F96-494E-B75F-54A6F1DD2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A7B09C-2EA1-CF46-B677-A87FBBA4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5C94B-393D-F042-9893-7D0FE536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DC901-8B1B-9942-A693-6C365CE8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4542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8431E-BF7F-B643-9732-C58E50B0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80530F-EDAE-A04A-959F-04FFB5916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A9A27B-E8DA-2A43-9E6C-4E28C649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D4AFFD-EC12-9F4F-A66F-8E1CA65B7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C73567-33DD-1446-B57A-4A8D3C121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3C4587-5951-AE40-98EC-000C8348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B8797D5-BA03-FD4F-9766-3645C482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2F01D1-340A-B848-9A18-8AC0AA21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443966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DC320-87B3-9240-9F12-5A4E931D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328F43-1148-F640-A232-835EBF9E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90A5E6-C7ED-974B-A5DA-1ED34A27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B7DB38-D7EA-2E45-B784-6CE9E425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21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E145497-DA82-9B4A-8975-6E631D37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ACD022-6274-D74C-807F-26568E95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04A5FB-177C-3949-9977-281F0ED6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787274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AC5E6-D1F5-0741-9A95-8DA92500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60DF96-FDCC-2248-A0BA-3FF5430D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F23B4F-43AB-CF42-854E-506F8AA7B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28205A-07EC-B04A-AFB2-986A6BD5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91BC3C-3F90-9244-8676-E2EAE046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59A304-D1F0-714E-ABB0-C307AD84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53260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52ED7-D0B7-A94A-9D43-79CDE2D8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40C5EC-53A1-774F-935B-8F3FA2472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69FE42-5383-7340-8BFF-A05FC3C16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6DDAC4-2F89-574F-AF28-91DF0C6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C6BA52-8E5E-994C-9083-F26C763F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A56643-7882-B841-88E7-2029D1D2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5914923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180A3-8BCB-6D4A-9484-CDA70E58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F207EA-E990-C34F-9670-1E0C43D6D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3A9939-599B-A444-B4E6-0C6D9705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49BD4C-D028-7749-AD00-61C02808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1EAE97-38FC-E147-9A1F-D22088D6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321558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B90592-6965-BD48-BBB2-B201EA57C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F35AD2-C676-624B-B883-6E1E60151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4BF2B8-E29D-F945-B061-FAE837F8B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0F5FA2-B055-0644-BFD0-1A4AAF7A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E4A748-7D9F-BC45-9AB3-08EF7944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590544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FD5521-8A3B-8B41-BFDC-4B6A866B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70B859-1202-AD48-8158-D8352800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A2D54D-5D60-2C4B-84D5-1F47A4EBC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C14571-F7CC-FD42-8F2C-7392466F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45EF07-AB40-CB40-B618-13C37B4AE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81498219-8C3B-FE4D-8C6C-D8803793612A}"/>
              </a:ext>
            </a:extLst>
          </p:cNvPr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478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yLqrO2bvNzGSbJC3JD5YCJoLRXsjitGWwS4C0eiNtQI/edit?usp=sharing" TargetMode="External"/><Relationship Id="rId2" Type="http://schemas.openxmlformats.org/officeDocument/2006/relationships/hyperlink" Target="https://docs.google.com/spreadsheets/d/1JeL2rHp4XRQvi1ME64ftFnnHtRyTQAxk/edit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mah0rama.livedoor.blog/archives/20951053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2E615-1863-FF40-9031-9AB0230D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2818"/>
            <a:ext cx="9144000" cy="3181972"/>
          </a:xfrm>
        </p:spPr>
        <p:txBody>
          <a:bodyPr>
            <a:normAutofit/>
          </a:bodyPr>
          <a:lstStyle/>
          <a:p>
            <a:pPr algn="ctr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東方とまほらまの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今後について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9" name="スライド番号プレースホルダー 3">
            <a:extLst>
              <a:ext uri="{FF2B5EF4-FFF2-40B4-BE49-F238E27FC236}">
                <a16:creationId xmlns:a16="http://schemas.microsoft.com/office/drawing/2014/main" id="{F96F847E-5434-C446-87EA-885B1EDE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999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お疲れさまでした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東方とまほらま、両クランの人材で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に挑みました。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ガチリーグでも十分に戦えるポテンシャルがあることがわかりましたね。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そろそろ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後の体制について考えねばなりません。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27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東方勢とまほらま勢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参戦メンバー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B50CBF-7D2D-F942-9D73-50097E2C8CDA}"/>
              </a:ext>
            </a:extLst>
          </p:cNvPr>
          <p:cNvSpPr/>
          <p:nvPr/>
        </p:nvSpPr>
        <p:spPr>
          <a:xfrm>
            <a:off x="984069" y="1690686"/>
            <a:ext cx="5033554" cy="390021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endParaRPr kumimoji="1"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ゴドルフィン</a:t>
            </a:r>
            <a:endParaRPr kumimoji="1"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OB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ハンター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・きむきむ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kumimoji="1" lang="en-US" altLang="ja-JP" sz="2400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endParaRPr kumimoji="1"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・ふるはた</a:t>
            </a:r>
            <a:endParaRPr kumimoji="1"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・ロッタ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CD44D34-E1FC-2546-B353-8EEE0419D512}"/>
              </a:ext>
            </a:extLst>
          </p:cNvPr>
          <p:cNvSpPr/>
          <p:nvPr/>
        </p:nvSpPr>
        <p:spPr>
          <a:xfrm>
            <a:off x="6152608" y="1690687"/>
            <a:ext cx="5044438" cy="390021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</a:t>
            </a:r>
            <a:endParaRPr kumimoji="1"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・ひこにゃん</a:t>
            </a:r>
            <a:endParaRPr kumimoji="1"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・魔王様</a:t>
            </a:r>
            <a:endParaRPr kumimoji="1"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・くい助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121</a:t>
            </a:r>
          </a:p>
          <a:p>
            <a:r>
              <a:rPr kumimoji="1"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・黒桜</a:t>
            </a:r>
            <a:endParaRPr lang="en-US" altLang="ja-JP" sz="20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217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あっちゃんの危惧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問題点１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まほらまがここまで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善戦できている、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そもそも参戦できているのも東方さんの力が大きい。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だけど、それは「まほらまとしての活動」になっている。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結果的に、まほらまばかりに日が当たり、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東方さんを日陰に追いやっている感が強い。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17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の危惧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問題点２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ズルズルとこのままの体制を続けた場合、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前述したメンバー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(121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さん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以外にも、今後、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東方の中核メンバーがまほらまに流出するのが予想される。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具体的な名前を挙げると、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だいさん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トビさん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ころ助さん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 あたりのガチ思考の方々は怪しい。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結果的に東方さんを潰すことになりうる。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524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では、どうしていくのか？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370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69915"/>
          </a:xfrm>
        </p:spPr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案１、それぞれの道を行こう</a:t>
            </a:r>
            <a:b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案２、クラン吸収合併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東方←まほらま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案３、クラン吸収合併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まほらま←東方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案４、新規クラン立ち上げ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案５、東方＆まほらまで協力関係を結ぶ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614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案１、それぞれの道を行こう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東方、まほらま、それぞれ元に戻る作戦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もともと曖昧な立ち位置の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魔王様、くい助さん、黒桜さんに関しては別途相談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317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案１、それぞれの道を行こう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良い点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両クランの文化や歴史や方針を尊重することができる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悪い点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東方、まほらま、共にガチリーグに参戦することはできなくなる。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人数足りなくなるわ。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東方のガチ思考メンバーが流出する可能性が高い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ガチ戦の楽しさを知った人が危ない。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東方さんのクラン方針をガチにしない限り防げない案件。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31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２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、クラン吸収合併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東方←まほらま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良い点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思い浮かばない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悪い点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感情的に無理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まほらまの歴史を捨てることになる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吸収合併時にメンバーが流出する危険性がある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ガチ思考メンバーが流出する</a:t>
            </a: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 sz="20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東方のクラン方針がゆるふわなので</a:t>
            </a: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737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案３、クラン吸収合併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まほらま←東方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良い点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合理的ではある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まほらまは、ガチとゆるふわの両方に対応しているクランなので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受け入れ自体は可能です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悪い点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感情的に無理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東方の歴史を捨てることになる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吸収合併時にメンバーが流出する危険性がある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この選択肢は合理的ではありますが、やめましょう。</a:t>
            </a:r>
            <a:br>
              <a:rPr lang="en-US" altLang="ja-JP" sz="24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感情と歴史は大切にしましょう。</a:t>
            </a:r>
            <a:endParaRPr lang="en-US" altLang="ja-JP" sz="24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11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20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案４、新規クラン立ち上げ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東方＆まほらまで新規クランを立ち上げる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8" name="図 7" descr="ゲームの画面&#10;&#10;低い精度で自動的に生成された説明">
            <a:extLst>
              <a:ext uri="{FF2B5EF4-FFF2-40B4-BE49-F238E27FC236}">
                <a16:creationId xmlns:a16="http://schemas.microsoft.com/office/drawing/2014/main" id="{0EB16213-E71B-9E4C-85F4-13E0CE9B6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3" y="2339712"/>
            <a:ext cx="3013080" cy="2894142"/>
          </a:xfrm>
          <a:prstGeom prst="rect">
            <a:avLst/>
          </a:prstGeom>
        </p:spPr>
      </p:pic>
      <p:pic>
        <p:nvPicPr>
          <p:cNvPr id="6" name="図 5" descr="テキスト&#10;&#10;自動的に生成された説明">
            <a:extLst>
              <a:ext uri="{FF2B5EF4-FFF2-40B4-BE49-F238E27FC236}">
                <a16:creationId xmlns:a16="http://schemas.microsoft.com/office/drawing/2014/main" id="{93D655CF-5017-DF46-A0B2-F4DFAE9AD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693" y="2530638"/>
            <a:ext cx="3793779" cy="2486172"/>
          </a:xfrm>
          <a:prstGeom prst="rect">
            <a:avLst/>
          </a:prstGeom>
        </p:spPr>
      </p:pic>
      <p:pic>
        <p:nvPicPr>
          <p:cNvPr id="9" name="図 8" descr="テキスト&#10;&#10;自動的に生成された説明">
            <a:extLst>
              <a:ext uri="{FF2B5EF4-FFF2-40B4-BE49-F238E27FC236}">
                <a16:creationId xmlns:a16="http://schemas.microsoft.com/office/drawing/2014/main" id="{9ECAAA69-8A74-C64D-AB77-A3DE8630A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744" y="2339712"/>
            <a:ext cx="4196347" cy="1506381"/>
          </a:xfrm>
          <a:prstGeom prst="rect">
            <a:avLst/>
          </a:prstGeom>
        </p:spPr>
      </p:pic>
      <p:pic>
        <p:nvPicPr>
          <p:cNvPr id="11" name="図 10" descr="テキスト, 手紙&#10;&#10;自動的に生成された説明">
            <a:extLst>
              <a:ext uri="{FF2B5EF4-FFF2-40B4-BE49-F238E27FC236}">
                <a16:creationId xmlns:a16="http://schemas.microsoft.com/office/drawing/2014/main" id="{CBA8ED04-A7C2-1B4D-B703-C954C42AF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744" y="3578670"/>
            <a:ext cx="4196348" cy="151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5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案４、新規クラン立ち上げ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あっちゃんが思っている形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ガチメンバーたちで新規クランに集まる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基本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、強い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の方々も少し在籍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まほらま本部、東方さんの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以下の方々は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どこかで固まって</a:t>
            </a: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形は要相談</a:t>
            </a: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育成メインで活動する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残ったまほらま＆東方の運営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クラゲや援軍やチャット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が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キツくなると予想されるので、そのケアとして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まほらま本部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or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東方で固まると良いのではないか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13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26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案４、新規クラン立ち上げ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良い点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感情的なところは解決できる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まほらま＆東方の平等化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案５より一体感あり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悪い点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新規クランのレベル上げが面倒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MAHORAMA_SAKURA 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を使う案もあるが、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平等感が無くなってしまう、悩みどころ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14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0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案５、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東方＆まほらまで協力関係を結ぶ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東方＆まほらまで協力関係を結ぶ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ファミリークラン化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目的に応じて頻繁に移動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OK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とする、例えば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リーグ戦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→東方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リーグ戦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報酬目当て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→まほらま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援軍・クランゲーム→助け合う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ガチ戦→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SAKURA</a:t>
            </a: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みたいな感じとか。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くい助さんや魔王様が普段やっていることに近いかな。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それを明確にするってことだけか。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788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案５、東方＆まほらまで協力関係を結ぶ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良い点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感情的なところは解決できる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まほらま＆東方の平等化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良くも悪くも現状維持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悪い点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リーダーが複数になる。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あっちゃんひこにゃんさん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「船頭多くして船山に登る」に注意が必要。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クラン運営の複雑化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外部から見ると訳分からんことになる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370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東方での話し合い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(2021/04/02)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参加メンバー：ひこにゃん、魔王様、だい、ころ助、ほもの助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順不同、敬称略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オブザーバー：マクス、ゆうフラ、</a:t>
            </a:r>
            <a:r>
              <a:rPr lang="en-US" altLang="ja-JP" sz="16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順不同、敬称略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331470" indent="-285750"/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問題点１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東方日陰問題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</a:t>
            </a:r>
            <a:r>
              <a:rPr lang="en-US" altLang="ja-JP" sz="16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は気にしているが東方メンバーはさほど気にしてないと思う。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くい助さんからもそのような趣旨チャットあり。そんな気にしなくて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OK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とのこと。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問題点２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東方中核メンバー流出問題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→ありえる感じ。ご本人たち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だいさん、ころ助さん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に軽く確認したところ、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もし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声掛けられたら、どのような判断になるかは分からないとのこと。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次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のときにファーミングが十分じゃない可能性もあるし、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ガチ戦へのモチベーション次第なところはある。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案１：それぞれの道をいく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→無し。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楽しかった、参加できなくなる。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案２：クラン吸収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東方←まほらま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→無し。無理とのこと。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案３：クラン吸収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まほらま←東方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→問題点１を気にしてないから有りっちゃ有りなんだよねとのこと。まじか。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想定外・・・感情的なところもあるだろうし、口に出しづらいこともあるだろうから議論を切り上げ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264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東方での話し合い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(2021/04/02)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331470" indent="-285750"/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案４：新規立ち上げ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→１から作り上げることに楽しさはあるかも、といった意見はあり。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ひこにゃんさん、チャットにて若干趣旨は変わるかもだけどくい助さんもかな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ただしクランレベルがネック。特に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TH14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になった後は、ヒーロー問題で対戦に出ない人もいるだろうから、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クランレベル低いままが長く続くよね。実益を考えるとあまり嬉しくない。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→だったら 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MAHORAMA_SAKURA 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や他支部使う？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→それだったら思い切って案３でも良い気もする。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　→議論切り上げ。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→リーグは多分マスター１あたりから開始されるから気にしなくて良い。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→新規クラン立ち上げた後の残された側の運営が何とかなるのか、やはり気になる。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→まほらまと東方で助け合う形になるのだろうけど、そこらへんはあっちゃんの手腕次第なところ。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案５：ファミリークラン化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→実は今回の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体制であまり困ってないんだよね。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(121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さんは流出しちゃいそうだけど、東方として楽しかったし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なので、実質この案で良いんすわ。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→ファミリークラン化することに関しては、既にファミリークランである東方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との兼ね合いはある。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→ファミリークラン化は、まほらま東方の立場を平等にするのが目的なだけなので、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問題点１を気にしていない場合は無理にする必要はない気はする。</a:t>
            </a:r>
            <a:b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 b="1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→この案で考える。これから詳細を詰めていく。</a:t>
            </a:r>
            <a:r>
              <a:rPr lang="en-US" altLang="ja-JP" sz="1600" b="1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(JWC</a:t>
            </a:r>
            <a:r>
              <a:rPr lang="ja-JP" altLang="en-US" sz="1600" b="1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オフ中の話だったり、リーグ戦だったり</a:t>
            </a:r>
            <a:r>
              <a:rPr lang="en-US" altLang="ja-JP" sz="1600" b="1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728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東方での話し合い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(2021/04/02)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【4/2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時点の結論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45720" indent="0">
              <a:buNone/>
            </a:pP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東方の意見としては、現状維持気味の案５が良さそう。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もうすぐ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TH14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のアップデートがある。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それで大きなシステム変更がある可能性もあるから、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それを踏まえてもっかい東方としての結論は出したい。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4/10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追記：クランシステム系のアップデートはなさそうなので案５で考えたい。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証拠議事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大事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)】</a:t>
            </a:r>
          </a:p>
          <a:p>
            <a:pPr marL="45720" indent="0">
              <a:buNone/>
            </a:pP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ゆうフラさん、次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の参戦は前向きに考えても良いとのこと。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→東方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を留守にすると運営マズイことになるが、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３ヶ月の間、２週間に１戦程度ならばいけるのでは。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19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320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案５で進んでいくと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思いきや・・・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318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ひこにゃんさんの想い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(2021/04/11)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331470" indent="-28575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案４：新規クラン立ち上げについてもう一回考えたいなー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案５だと現状維持にはなるけど、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TH14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ファーミングが終わったタイミングで、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東方主要メンバーはガチ戦やりたくなって崩壊するのは目に見えている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ひこにゃんさんもリーダー責務と東方体制に疲れてきている、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幕を下ろす良いタイミングなのかもしれない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そして新規クランでゼロからやっていくのも楽しそうなんだよね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だが、案４でいくと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新規クランに移動する人以外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具体的には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以下の人たち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切り捨てみたいな感じになってしまう気がするので悩み中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21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626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 fontScale="90000"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どうやら、ひこにゃんさんは背中を押してほしいようだ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案４で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22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351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ならば背中を押す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(2021/04/11)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23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6" name="図 5" descr="グラフィカル ユーザー インターフェイス, テキスト&#10;&#10;自動的に生成された説明">
            <a:extLst>
              <a:ext uri="{FF2B5EF4-FFF2-40B4-BE49-F238E27FC236}">
                <a16:creationId xmlns:a16="http://schemas.microsoft.com/office/drawing/2014/main" id="{9115A0B9-D3D5-8440-99F4-1310B3AAB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09" y="1252434"/>
            <a:ext cx="10331381" cy="49829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583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あっちゃんの想い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(2021/04/18)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案４：新規クラン立ち上げ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合併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を進めたい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合併したい理由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というイベントでリーグ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位まで行けたのは東方さんの力が大きいのに今後も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『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』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として出て良いのか？コレがスタートであり、今も大部分を占める理由です。東方メンバーの方々は「気にしなくて良い」と言ってくれましたがイヤです。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なので、まほらまメンバーには自分のワガママで合併する事になります。ただ、全員納得してくれると信じています。これは俺について来てくれるかどうかではなく、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の空気を感じたみんなが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「確かに東方さんと合併したら面白いことになりそう！」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と思ってくれると確信してるからです。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24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840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あっちゃんの想い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(2021/04/18)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あっちゃんが新クラン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アクティブクラン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のリーダーをやらない理由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できれば交代したい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理由はリアルの都合もあるが、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一番の理由は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『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強いチームになって欲しい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』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から。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リーダーが一番強い必要はないが、多少の実力はないといけない。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俺がリーダーをやる場合、先の未来で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『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あともう一踏ん張りで栄光を勝ちとれるという所で負ける。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』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そんな気がする。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487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あっちゃんの想い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(2021/04/18)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まほらまの名前と伝統は良いのか？ 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ガワと過去は気にしない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確かに思い入れはあるが、今いるメンツとより高みへ行けるなら良い。そして、東方さんとの合併にそれくらいの価値を見出している。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ガッチガチの軍団になれ！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という訳ではなく、今の雰囲気のままがベストだと思っている。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563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あっちゃんの想い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(2021/04/18)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ここまで恩着せがましいことばかりなので損得についてなども。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東方さんが居ないとイベントに参加すること自体が難しい。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まほらまでは次の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までにカンスト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10〜15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人集めることさえ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難しい状況。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ましてや、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で好成績をおさめるのは不可能。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結局、東方さんの力が必要になる。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東方さんは「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はまほらまでしか出ない」と言ってくれているが、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この先、何が起こるかわからない。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なので、合併すると、まほらまメンバーは安定してイベントに参加。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かつ、栄光に近づける。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31470" indent="-28575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530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両クランのトップが</a:t>
            </a:r>
            <a:b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新規クラン立ち上げ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合併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で合意した。進めようか。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660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新規クラン立ち上げ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具体的な話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29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440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0F1F0F5-1E6C-874F-886F-701786DF7272}"/>
              </a:ext>
            </a:extLst>
          </p:cNvPr>
          <p:cNvSpPr/>
          <p:nvPr/>
        </p:nvSpPr>
        <p:spPr>
          <a:xfrm>
            <a:off x="5286345" y="1380921"/>
            <a:ext cx="6180667" cy="476755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2200" dirty="0">
                <a:solidFill>
                  <a:schemeClr val="bg1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TOMARIGI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組織変更ざっくり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7F5F2E3-BE55-D247-974D-715C18D48C31}"/>
              </a:ext>
            </a:extLst>
          </p:cNvPr>
          <p:cNvSpPr/>
          <p:nvPr/>
        </p:nvSpPr>
        <p:spPr>
          <a:xfrm>
            <a:off x="951412" y="1380921"/>
            <a:ext cx="3142622" cy="232238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本部、桜支部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en-US" altLang="ja-JP" sz="16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ABE4BD0-C2A1-5E41-AF30-DDBAEF02A3CC}"/>
              </a:ext>
            </a:extLst>
          </p:cNvPr>
          <p:cNvSpPr/>
          <p:nvPr/>
        </p:nvSpPr>
        <p:spPr>
          <a:xfrm>
            <a:off x="939850" y="3826092"/>
            <a:ext cx="3149417" cy="232238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(16)</a:t>
            </a:r>
            <a:endParaRPr lang="en-US" altLang="ja-JP" sz="16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algn="ctr"/>
            <a:endParaRPr lang="en-US" altLang="ja-JP" sz="20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0B0997F0-A49B-424C-8039-D5537CDF004E}"/>
              </a:ext>
            </a:extLst>
          </p:cNvPr>
          <p:cNvSpPr/>
          <p:nvPr/>
        </p:nvSpPr>
        <p:spPr>
          <a:xfrm>
            <a:off x="1147791" y="1879167"/>
            <a:ext cx="2733540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TH13-14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：アクティブ勢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82EBB42A-B756-D94A-BABF-F937A82FAD18}"/>
              </a:ext>
            </a:extLst>
          </p:cNvPr>
          <p:cNvSpPr/>
          <p:nvPr/>
        </p:nvSpPr>
        <p:spPr>
          <a:xfrm>
            <a:off x="1147789" y="2459146"/>
            <a:ext cx="2733540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以下：アクティブ勢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8A043FC6-E660-0D42-9B2F-81E58F69DE0E}"/>
              </a:ext>
            </a:extLst>
          </p:cNvPr>
          <p:cNvSpPr/>
          <p:nvPr/>
        </p:nvSpPr>
        <p:spPr>
          <a:xfrm>
            <a:off x="1147789" y="3039125"/>
            <a:ext cx="2733540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ゆったりしたい勢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EA24A44D-BC10-AA4E-8994-F71F02050A9B}"/>
              </a:ext>
            </a:extLst>
          </p:cNvPr>
          <p:cNvSpPr/>
          <p:nvPr/>
        </p:nvSpPr>
        <p:spPr>
          <a:xfrm>
            <a:off x="1147789" y="4270604"/>
            <a:ext cx="2733540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TH13-14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：アクティブ勢</a:t>
            </a:r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776A7B72-1651-8244-BDAB-F2089293C859}"/>
              </a:ext>
            </a:extLst>
          </p:cNvPr>
          <p:cNvSpPr/>
          <p:nvPr/>
        </p:nvSpPr>
        <p:spPr>
          <a:xfrm>
            <a:off x="1147787" y="4850583"/>
            <a:ext cx="2733540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以下：アクティブ勢</a:t>
            </a: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FA2B4284-7878-9D4C-8977-5D5CC9D3D1C0}"/>
              </a:ext>
            </a:extLst>
          </p:cNvPr>
          <p:cNvSpPr/>
          <p:nvPr/>
        </p:nvSpPr>
        <p:spPr>
          <a:xfrm>
            <a:off x="1147787" y="5430562"/>
            <a:ext cx="2733540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ゆったりしたい勢</a:t>
            </a:r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11DDD6C5-B885-C147-8430-0962103B5D70}"/>
              </a:ext>
            </a:extLst>
          </p:cNvPr>
          <p:cNvSpPr/>
          <p:nvPr/>
        </p:nvSpPr>
        <p:spPr>
          <a:xfrm>
            <a:off x="4207267" y="3314293"/>
            <a:ext cx="978408" cy="80961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7B5EC37-3D61-B04A-A0F0-C22A1852C1AE}"/>
              </a:ext>
            </a:extLst>
          </p:cNvPr>
          <p:cNvSpPr/>
          <p:nvPr/>
        </p:nvSpPr>
        <p:spPr>
          <a:xfrm>
            <a:off x="5499050" y="1806325"/>
            <a:ext cx="5741537" cy="15689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TOMARIGI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アクティブクラン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en-US" altLang="ja-JP" sz="16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BE24FFA8-17F4-9B4B-85BA-EA19FA94FED1}"/>
              </a:ext>
            </a:extLst>
          </p:cNvPr>
          <p:cNvSpPr/>
          <p:nvPr/>
        </p:nvSpPr>
        <p:spPr>
          <a:xfrm>
            <a:off x="5785105" y="2244941"/>
            <a:ext cx="5057066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TH13-14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：アクティブ勢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from 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AD19C939-D059-4F47-BF39-BDEB350E1492}"/>
              </a:ext>
            </a:extLst>
          </p:cNvPr>
          <p:cNvSpPr/>
          <p:nvPr/>
        </p:nvSpPr>
        <p:spPr>
          <a:xfrm>
            <a:off x="5785105" y="2787221"/>
            <a:ext cx="5057066" cy="457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TH13-14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：アクティブ勢 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(from 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DFFFC2D-38D3-914A-B351-0D6A71717C09}"/>
              </a:ext>
            </a:extLst>
          </p:cNvPr>
          <p:cNvSpPr/>
          <p:nvPr/>
        </p:nvSpPr>
        <p:spPr>
          <a:xfrm>
            <a:off x="5499049" y="3461977"/>
            <a:ext cx="5741537" cy="2625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摩天楼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 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ファーミングクラン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kumimoji="1" lang="en-US" altLang="ja-JP" sz="12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 sz="12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将来的に</a:t>
            </a:r>
            <a:r>
              <a:rPr kumimoji="1" lang="ja-JP" altLang="en-US" sz="12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新クラン</a:t>
            </a:r>
            <a:r>
              <a:rPr lang="ja-JP" altLang="en-US" sz="12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になります、摩天楼は借り物です</a:t>
            </a:r>
            <a:endParaRPr kumimoji="1" lang="en-US" altLang="ja-JP" sz="1200" b="1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F5D9E317-34C1-6A45-AAF0-E609591BF49E}"/>
              </a:ext>
            </a:extLst>
          </p:cNvPr>
          <p:cNvSpPr/>
          <p:nvPr/>
        </p:nvSpPr>
        <p:spPr>
          <a:xfrm>
            <a:off x="5785104" y="4069561"/>
            <a:ext cx="5057067" cy="3227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以下：アクティブ勢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(from 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C7FA3089-AFBB-0749-89C5-F3F53FFD1C5C}"/>
              </a:ext>
            </a:extLst>
          </p:cNvPr>
          <p:cNvSpPr/>
          <p:nvPr/>
        </p:nvSpPr>
        <p:spPr>
          <a:xfrm>
            <a:off x="5785104" y="4464870"/>
            <a:ext cx="5057067" cy="3227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ゆったりしたい勢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(from 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B470A90E-C488-F34B-AC66-F1C95DE2DC13}"/>
              </a:ext>
            </a:extLst>
          </p:cNvPr>
          <p:cNvSpPr/>
          <p:nvPr/>
        </p:nvSpPr>
        <p:spPr>
          <a:xfrm>
            <a:off x="5785103" y="4870246"/>
            <a:ext cx="5057067" cy="3227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以下：アクティブ勢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(from 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370A3D1A-48D2-5747-B02C-774911172AE5}"/>
              </a:ext>
            </a:extLst>
          </p:cNvPr>
          <p:cNvSpPr/>
          <p:nvPr/>
        </p:nvSpPr>
        <p:spPr>
          <a:xfrm>
            <a:off x="5785103" y="5265555"/>
            <a:ext cx="5057067" cy="3227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ゆったりしたい勢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(from 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E60A03D5-46FB-0A40-92C5-29B98A5BE4A4}"/>
              </a:ext>
            </a:extLst>
          </p:cNvPr>
          <p:cNvSpPr/>
          <p:nvPr/>
        </p:nvSpPr>
        <p:spPr>
          <a:xfrm>
            <a:off x="5785102" y="5670931"/>
            <a:ext cx="5057067" cy="3227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以上援軍送り勢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(TOMARIGI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運営陣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276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組織変更するための段取り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60070" indent="-514350">
              <a:buFont typeface="+mj-lt"/>
              <a:buAutoNum type="arabicPeriod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まほらま側の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GO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サイン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>
              <a:buFont typeface="+mj-lt"/>
              <a:buAutoNum type="arabicPeriod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東方側の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GO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サイン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>
              <a:buFont typeface="+mj-lt"/>
              <a:buAutoNum type="arabicPeriod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２つの新クランのリーダーをそれぞれ決める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>
              <a:buFont typeface="+mj-lt"/>
              <a:buAutoNum type="arabicPeriod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２つの新クランの方針を明確する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>
              <a:buFont typeface="+mj-lt"/>
              <a:buAutoNum type="arabicPeriod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具体的な移行計画を立てる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>
              <a:buFont typeface="+mj-lt"/>
              <a:buAutoNum type="arabicPeriod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まほらまメンバー、東方メンバーへの展開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>
              <a:buFont typeface="+mj-lt"/>
              <a:buAutoNum type="arabicPeriod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組織変更実施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(2021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月頃からゆるりと予定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60070" indent="-514350">
              <a:buFont typeface="+mj-lt"/>
              <a:buAutoNum type="arabicPeriod"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66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飛ぶ, 飛行機, 空気, ブルー が含まれている画像&#10;&#10;自動的に生成された説明">
            <a:extLst>
              <a:ext uri="{FF2B5EF4-FFF2-40B4-BE49-F238E27FC236}">
                <a16:creationId xmlns:a16="http://schemas.microsoft.com/office/drawing/2014/main" id="{BC6240F3-D8A2-5D4D-919D-02303D97C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518" y="1184660"/>
            <a:ext cx="4338844" cy="25462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251"/>
            <a:ext cx="10515600" cy="1325563"/>
          </a:xfrm>
        </p:spPr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TOMARIGI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全体について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名前の由来は「とまり木」です。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クランメンバーの皆さんを鳥に例えて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しっかりと活動できる環境を与えられる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クランを目指していきます。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リーダー：</a:t>
            </a:r>
            <a:r>
              <a:rPr lang="en-US" altLang="ja-JP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以下２つのクランで構成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アクティブクラン「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TOMARIGI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ファーミングクラン「まほらま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摩天楼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146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クラン「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TOMARIGI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概要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60070" indent="-51435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14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のアクティブ勢で集まる</a:t>
            </a:r>
            <a:r>
              <a:rPr lang="ja-JP" altLang="en-US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(TH12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以下の希望者は要相談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60070" indent="-51435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将来的に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TH14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オンリー化する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(2021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月予定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方針、目指すクランの姿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高いモチベーションの人にとって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”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居心地の良いクランであること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強いクランであること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015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クラン「まほらま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摩天楼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概要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60070" indent="-51435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ファーミング勢で集まる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帯は問わない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将来的に新規クランに移行する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まほらまは仮宿です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方針、目指すクランの姿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安心してファーミングできるクランであること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34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178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新体制への変更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60070" indent="-51435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タイミング：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月リーグが終わり次第、移行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60070" indent="-51435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振り分け案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1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　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まほらま側：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　</a:t>
            </a:r>
            <a:r>
              <a:rPr lang="en-US" altLang="ja-JP" sz="1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https://docs.google.com/spreadsheets/d/1JeL2rHp4XRQvi1ME64ftFnnHtRyTQAxk/edit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1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　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東方側：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　</a:t>
            </a:r>
            <a:r>
              <a:rPr lang="en-US" altLang="ja-JP" sz="1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https://docs.google.com/spreadsheets/d/1yLqrO2bvNzGSbJC3JD5YCJoLRXsjitGWwS4C0eiNtQI/edit?usp=sharing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皆様ご確認ください。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目安になりますので、変更希望がある場合は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　お気軽に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24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まで連絡ください。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35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471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以上です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277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以降のページはボツ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251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 fontScale="90000"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案５、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東方＆まほらまで協力関係を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結ぶの具体的な話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7B9943-FA08-584F-B4AA-C0A6110D0F29}"/>
              </a:ext>
            </a:extLst>
          </p:cNvPr>
          <p:cNvSpPr/>
          <p:nvPr/>
        </p:nvSpPr>
        <p:spPr>
          <a:xfrm>
            <a:off x="444137" y="369024"/>
            <a:ext cx="11225349" cy="530134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02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対外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的にファミリークランを謳うか？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謳わない。</a:t>
            </a:r>
            <a:endParaRPr lang="en-US" altLang="ja-JP" sz="24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東方でも東方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(16)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と東方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(15)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というクランが存在しており、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両クランは協力関係にある。そこの関係性が崩れる危険性も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無きにしもあらずなので謳わない。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補足：この資料で「東方」と記載している場合、東方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(16)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を示す。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また、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の参戦における東方日陰問題に関しても、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東方メンバーの方々は特に気にしていないようなので、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対外的にファミリークランを謳って知名度を上げる必要性も低い。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外部からややこしく見られるし・・・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45720" indent="0">
              <a:buNone/>
            </a:pP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なので、東方＆まほらま間ではファミリークランは謳わずに、</a:t>
            </a:r>
            <a:br>
              <a:rPr lang="en-US" altLang="ja-JP" sz="24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「お互い仲良くしています」という関係性に留める形とする。</a:t>
            </a:r>
            <a:endParaRPr lang="en-US" altLang="ja-JP" sz="24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39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0CDFB72-43E8-F141-B69D-99DBB5E9EAFE}"/>
              </a:ext>
            </a:extLst>
          </p:cNvPr>
          <p:cNvSpPr/>
          <p:nvPr/>
        </p:nvSpPr>
        <p:spPr>
          <a:xfrm>
            <a:off x="444137" y="369024"/>
            <a:ext cx="11225349" cy="58079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65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基本的な考え方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4F5B0D1-8C9D-9D42-B067-7A4669BE58FD}"/>
              </a:ext>
            </a:extLst>
          </p:cNvPr>
          <p:cNvSpPr/>
          <p:nvPr/>
        </p:nvSpPr>
        <p:spPr>
          <a:xfrm>
            <a:off x="1567549" y="2160734"/>
            <a:ext cx="4824550" cy="228716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① 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特に無し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C00CC0-6B48-4045-BD99-69FA1E70773E}"/>
              </a:ext>
            </a:extLst>
          </p:cNvPr>
          <p:cNvSpPr/>
          <p:nvPr/>
        </p:nvSpPr>
        <p:spPr>
          <a:xfrm>
            <a:off x="1567549" y="4502331"/>
            <a:ext cx="4824550" cy="162020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② 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まほらま→東方</a:t>
            </a:r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サポート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9C7DC49-C989-D74E-A020-00DA984420CF}"/>
              </a:ext>
            </a:extLst>
          </p:cNvPr>
          <p:cNvSpPr/>
          <p:nvPr/>
        </p:nvSpPr>
        <p:spPr>
          <a:xfrm>
            <a:off x="6453052" y="2160734"/>
            <a:ext cx="4824550" cy="228716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③ 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東方→まほらま</a:t>
            </a:r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サポート</a:t>
            </a:r>
            <a:endParaRPr lang="en-US" altLang="ja-JP" sz="24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6B27419-B781-A14F-80D2-6313A2C2881C}"/>
              </a:ext>
            </a:extLst>
          </p:cNvPr>
          <p:cNvSpPr/>
          <p:nvPr/>
        </p:nvSpPr>
        <p:spPr>
          <a:xfrm>
            <a:off x="6453052" y="4502331"/>
            <a:ext cx="4824550" cy="162020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④ 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まほらま→東方</a:t>
            </a:r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サポート</a:t>
            </a:r>
            <a:b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(JWC</a:t>
            </a:r>
            <a:r>
              <a:rPr lang="ja-JP" altLang="en-US" sz="24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戦はリーグ期間中無し前提</a:t>
            </a:r>
            <a:r>
              <a:rPr lang="en-US" altLang="ja-JP" sz="24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C2E1EB-35D1-AD43-9655-DF1B6D634622}"/>
              </a:ext>
            </a:extLst>
          </p:cNvPr>
          <p:cNvSpPr/>
          <p:nvPr/>
        </p:nvSpPr>
        <p:spPr>
          <a:xfrm>
            <a:off x="1567549" y="1593081"/>
            <a:ext cx="4824550" cy="51019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オフシーズン</a:t>
            </a:r>
            <a:endParaRPr lang="en-US" altLang="ja-JP" sz="2400" dirty="0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5BF9ECA-4F8D-1046-84C0-EBFA7381A2A1}"/>
              </a:ext>
            </a:extLst>
          </p:cNvPr>
          <p:cNvSpPr/>
          <p:nvPr/>
        </p:nvSpPr>
        <p:spPr>
          <a:xfrm>
            <a:off x="6453052" y="1588575"/>
            <a:ext cx="4824550" cy="51019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オンシーズン</a:t>
            </a:r>
            <a:endParaRPr lang="en-US" altLang="ja-JP" sz="2400" dirty="0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83BD44-2332-AE4B-9EC5-7F2F660BD415}"/>
              </a:ext>
            </a:extLst>
          </p:cNvPr>
          <p:cNvSpPr/>
          <p:nvPr/>
        </p:nvSpPr>
        <p:spPr>
          <a:xfrm>
            <a:off x="914398" y="2160734"/>
            <a:ext cx="592198" cy="228716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240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野良戦期間</a:t>
            </a:r>
            <a:endParaRPr lang="en-US" altLang="ja-JP" sz="2400" dirty="0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96A6077-E02E-0943-9519-ED542C077AD5}"/>
              </a:ext>
            </a:extLst>
          </p:cNvPr>
          <p:cNvSpPr/>
          <p:nvPr/>
        </p:nvSpPr>
        <p:spPr>
          <a:xfrm>
            <a:off x="914398" y="4502331"/>
            <a:ext cx="592198" cy="162020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240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リーグ期間</a:t>
            </a:r>
            <a:endParaRPr lang="en-US" altLang="ja-JP" sz="2400" dirty="0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DE4E701-3E82-3144-AD31-FBD6FF142C97}"/>
              </a:ext>
            </a:extLst>
          </p:cNvPr>
          <p:cNvSpPr/>
          <p:nvPr/>
        </p:nvSpPr>
        <p:spPr>
          <a:xfrm>
            <a:off x="444137" y="369024"/>
            <a:ext cx="11225349" cy="58079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35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①JWC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オフシーズン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×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野良戦期間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388620" indent="-342900"/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両クランとも自立できているので協力体制は不要</a:t>
            </a: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なはず</a:t>
            </a: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388620" indent="-342900"/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東方メンバーではあるが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まほらまで活動してくれていた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魔王様・くい助さん・黒桜さんに関しては、今まで通り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まほらまにて活動いただく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さんに関しては要相談とする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41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59F8B7-AC78-7C4B-9A64-954D61175594}"/>
              </a:ext>
            </a:extLst>
          </p:cNvPr>
          <p:cNvSpPr/>
          <p:nvPr/>
        </p:nvSpPr>
        <p:spPr>
          <a:xfrm>
            <a:off x="444137" y="369024"/>
            <a:ext cx="11225349" cy="58079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70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②JWC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オフシーズン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×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リーグ期間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388620" indent="-342900"/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まほらまは東方をサポートする</a:t>
            </a:r>
            <a:endParaRPr lang="en-US" altLang="ja-JP" sz="20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チャンピオンリーグで戦っている東方は、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最高タウンホール帯のガチメンバーが不足している。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不足分をまほらまで募りリーグ期間中、東方に応援にいく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メンバーはそのときによる。ハンターさんやふるさんやロッタさんや</a:t>
            </a:r>
            <a:r>
              <a:rPr lang="en-US" altLang="ja-JP" sz="20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等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逆に東方メンバーでリーグに出れない方の受け入れをまほらまで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実施するのも良い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ただしメダル目当て星８交代制を受け入れてくれる方に限る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388620" indent="-342900"/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42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FF7588A-2A07-C94D-8C32-2D2D1E22DBC3}"/>
              </a:ext>
            </a:extLst>
          </p:cNvPr>
          <p:cNvSpPr/>
          <p:nvPr/>
        </p:nvSpPr>
        <p:spPr>
          <a:xfrm>
            <a:off x="444137" y="369024"/>
            <a:ext cx="11225349" cy="58079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11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③JWC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オンシーズン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×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野良戦期間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388620" indent="-342900"/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東方はまほらまをサポートする</a:t>
            </a:r>
            <a:endParaRPr lang="en-US" altLang="ja-JP" sz="24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東方の</a:t>
            </a:r>
            <a:r>
              <a:rPr lang="en-US" altLang="ja-JP" sz="24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参戦者は、期間中、まほらまで活動していただく</a:t>
            </a:r>
            <a:br>
              <a:rPr lang="en-US" altLang="ja-JP" sz="24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(JWC</a:t>
            </a:r>
            <a:r>
              <a:rPr lang="ja-JP" altLang="en-US" sz="20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ルール上、まほらまでの活動実績が必要になるので</a:t>
            </a:r>
            <a:r>
              <a:rPr lang="en-US" altLang="ja-JP" sz="20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ただし、東方リーダーのひこにゃんさんに関しては、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クラン運営の関係で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戦以外は東方で活動する。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もし、東方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(15)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のゆうフラさんが参戦してくれる場合もこれに該当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ひこにゃんさんと相談事項：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だいさん、ころ助さん、トビダシさんに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参戦いただく場合・・・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43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6839A9E-26B6-1645-9B78-815B84EDA0C8}"/>
              </a:ext>
            </a:extLst>
          </p:cNvPr>
          <p:cNvSpPr/>
          <p:nvPr/>
        </p:nvSpPr>
        <p:spPr>
          <a:xfrm>
            <a:off x="444137" y="369024"/>
            <a:ext cx="11225349" cy="58079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608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④JWC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オンシーズン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×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リーグ期間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388620" indent="-342900"/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まほらまは東方をサポートする</a:t>
            </a:r>
            <a:endParaRPr lang="en-US" altLang="ja-JP" sz="20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②JWC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オフシーズン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×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リーグ戦期間」と同様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44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CAB5A04-6F86-AE4E-907F-190885D28A4B}"/>
              </a:ext>
            </a:extLst>
          </p:cNvPr>
          <p:cNvSpPr/>
          <p:nvPr/>
        </p:nvSpPr>
        <p:spPr>
          <a:xfrm>
            <a:off x="444137" y="369024"/>
            <a:ext cx="11225349" cy="58079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3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その他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援軍やクラゲ応援が必要な場合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discord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でやりとりして柔軟に対応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まほらまが海外リーグに挑戦する場合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要相談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/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東方を行き来するメンバー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→「郷に入れば郷に従え」をしっかり意識すること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845820" lvl="1" indent="-342900"/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まほらまルール：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http://mah0rama.livedoor.blog/archives/20951053.html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845820" lvl="1" indent="-342900"/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東方ルール：クラン説明参照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D481A6-5A82-8C46-8022-E6F29848F0CC}"/>
              </a:ext>
            </a:extLst>
          </p:cNvPr>
          <p:cNvSpPr/>
          <p:nvPr/>
        </p:nvSpPr>
        <p:spPr>
          <a:xfrm>
            <a:off x="444137" y="369024"/>
            <a:ext cx="11225349" cy="58079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93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1930</TotalTime>
  <Words>3488</Words>
  <Application>Microsoft Macintosh PowerPoint</Application>
  <PresentationFormat>ワイド画面</PresentationFormat>
  <Paragraphs>279</Paragraphs>
  <Slides>45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2" baseType="lpstr">
      <vt:lpstr>Hiragino Maru Gothic Pro W4</vt:lpstr>
      <vt:lpstr>ＭＳ 明朝</vt:lpstr>
      <vt:lpstr>游ゴシック</vt:lpstr>
      <vt:lpstr>游ゴシック Light</vt:lpstr>
      <vt:lpstr>Arial</vt:lpstr>
      <vt:lpstr>Wingdings</vt:lpstr>
      <vt:lpstr>Office テーマ</vt:lpstr>
      <vt:lpstr>東方とまほらまの 今後について </vt:lpstr>
      <vt:lpstr>JWCお疲れさまでした</vt:lpstr>
      <vt:lpstr>東方勢とまほらま勢(JWC参戦メンバー)</vt:lpstr>
      <vt:lpstr>あっちゃんの危惧(問題点１)</vt:lpstr>
      <vt:lpstr>bigtreeの危惧(問題点２)</vt:lpstr>
      <vt:lpstr>では、どうしていくのか？ </vt:lpstr>
      <vt:lpstr>案１、それぞれの道を行こう 案２、クラン吸収合併(東方←まほらま) 案３、クラン吸収合併(まほらま←東方) 案４、新規クラン立ち上げ 案５、東方＆まほらまで協力関係を結ぶ</vt:lpstr>
      <vt:lpstr>案１、それぞれの道を行こう</vt:lpstr>
      <vt:lpstr>案１、それぞれの道を行こう</vt:lpstr>
      <vt:lpstr>案２、クラン吸収合併(東方←まほらま)</vt:lpstr>
      <vt:lpstr>案３、クラン吸収合併(まほらま←東方)</vt:lpstr>
      <vt:lpstr>案４、新規クラン立ち上げ</vt:lpstr>
      <vt:lpstr>案４、新規クラン立ち上げ</vt:lpstr>
      <vt:lpstr>案４、新規クラン立ち上げ</vt:lpstr>
      <vt:lpstr>案５、東方＆まほらまで協力関係を結ぶ</vt:lpstr>
      <vt:lpstr>案５、東方＆まほらまで協力関係を結ぶ</vt:lpstr>
      <vt:lpstr>東方での話し合い (2021/04/02)</vt:lpstr>
      <vt:lpstr>東方での話し合い (2021/04/02)</vt:lpstr>
      <vt:lpstr>東方での話し合い (2021/04/02)</vt:lpstr>
      <vt:lpstr>案５で進んでいくと 思いきや・・・ </vt:lpstr>
      <vt:lpstr>ひこにゃんさんの想い (2021/04/11)</vt:lpstr>
      <vt:lpstr>どうやら、ひこにゃんさんは背中を押してほしいようだ (案４で)</vt:lpstr>
      <vt:lpstr>ならば背中を押す (2021/04/11)</vt:lpstr>
      <vt:lpstr>あっちゃんの想い (2021/04/18)</vt:lpstr>
      <vt:lpstr>あっちゃんの想い (2021/04/18)</vt:lpstr>
      <vt:lpstr>あっちゃんの想い (2021/04/18)</vt:lpstr>
      <vt:lpstr>あっちゃんの想い (2021/04/18)</vt:lpstr>
      <vt:lpstr>両クランのトップが 新規クラン立ち上げ(合併) で合意した。進めようか。</vt:lpstr>
      <vt:lpstr>新規クラン立ち上げ 具体的な話 </vt:lpstr>
      <vt:lpstr>組織変更ざっくり</vt:lpstr>
      <vt:lpstr>組織変更するための段取り</vt:lpstr>
      <vt:lpstr>TOMARIGI 全体について</vt:lpstr>
      <vt:lpstr>クラン「TOMARIGI」</vt:lpstr>
      <vt:lpstr>クラン「まほらま〜摩天楼〜」</vt:lpstr>
      <vt:lpstr>新体制への変更</vt:lpstr>
      <vt:lpstr>以上です </vt:lpstr>
      <vt:lpstr>以降のページはボツ </vt:lpstr>
      <vt:lpstr>案５、 東方＆まほらまで協力関係を 結ぶの具体的な話 </vt:lpstr>
      <vt:lpstr>対外的にファミリークランを謳うか？</vt:lpstr>
      <vt:lpstr>基本的な考え方</vt:lpstr>
      <vt:lpstr>①JWCオフシーズン×野良戦期間</vt:lpstr>
      <vt:lpstr>②JWCオフシーズン×リーグ期間</vt:lpstr>
      <vt:lpstr>③JWCオンシーズン×野良戦期間</vt:lpstr>
      <vt:lpstr>④JWCオンシーズン×リーグ期間</vt:lpstr>
      <vt:lpstr>その他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東俊実</cp:lastModifiedBy>
  <cp:revision>351</cp:revision>
  <dcterms:created xsi:type="dcterms:W3CDTF">2017-03-02T10:44:30Z</dcterms:created>
  <dcterms:modified xsi:type="dcterms:W3CDTF">2021-04-25T18:05:32Z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