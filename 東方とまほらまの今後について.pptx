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47"/>
  </p:notesMasterIdLst>
  <p:handoutMasterIdLst>
    <p:handoutMasterId r:id="rId48"/>
  </p:handoutMasterIdLst>
  <p:sldIdLst>
    <p:sldId id="256" r:id="rId2"/>
    <p:sldId id="257" r:id="rId3"/>
    <p:sldId id="317" r:id="rId4"/>
    <p:sldId id="318" r:id="rId5"/>
    <p:sldId id="311" r:id="rId6"/>
    <p:sldId id="263" r:id="rId7"/>
    <p:sldId id="327" r:id="rId8"/>
    <p:sldId id="287" r:id="rId9"/>
    <p:sldId id="319" r:id="rId10"/>
    <p:sldId id="322" r:id="rId11"/>
    <p:sldId id="320" r:id="rId12"/>
    <p:sldId id="323" r:id="rId13"/>
    <p:sldId id="328" r:id="rId14"/>
    <p:sldId id="324" r:id="rId15"/>
    <p:sldId id="325" r:id="rId16"/>
    <p:sldId id="326" r:id="rId17"/>
    <p:sldId id="329" r:id="rId18"/>
    <p:sldId id="330" r:id="rId19"/>
    <p:sldId id="331" r:id="rId20"/>
    <p:sldId id="332" r:id="rId21"/>
    <p:sldId id="333" r:id="rId22"/>
    <p:sldId id="334" r:id="rId23"/>
    <p:sldId id="335" r:id="rId24"/>
    <p:sldId id="348" r:id="rId25"/>
    <p:sldId id="349" r:id="rId26"/>
    <p:sldId id="350" r:id="rId27"/>
    <p:sldId id="351" r:id="rId28"/>
    <p:sldId id="352" r:id="rId29"/>
    <p:sldId id="336" r:id="rId30"/>
    <p:sldId id="337" r:id="rId31"/>
    <p:sldId id="338" r:id="rId32"/>
    <p:sldId id="354" r:id="rId33"/>
    <p:sldId id="358" r:id="rId34"/>
    <p:sldId id="355" r:id="rId35"/>
    <p:sldId id="356" r:id="rId36"/>
    <p:sldId id="339" r:id="rId37"/>
    <p:sldId id="357" r:id="rId38"/>
    <p:sldId id="347" r:id="rId39"/>
    <p:sldId id="340" r:id="rId40"/>
    <p:sldId id="341" r:id="rId41"/>
    <p:sldId id="342" r:id="rId42"/>
    <p:sldId id="343" r:id="rId43"/>
    <p:sldId id="344" r:id="rId44"/>
    <p:sldId id="345" r:id="rId45"/>
    <p:sldId id="346" r:id="rId4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2021年4月26日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2021年4月26日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yLqrO2bvNzGSbJC3JD5YCJoLRXsjitGWwS4C0eiNtQI/edit?usp=sharing" TargetMode="External"/><Relationship Id="rId2" Type="http://schemas.openxmlformats.org/officeDocument/2006/relationships/hyperlink" Target="https://docs.google.com/spreadsheets/d/1JeL2rHp4XRQvi1ME64ftFnnHtRyTQAxk/edit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://mah0rama.livedoor.blog/archives/20951053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今後について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お疲れさまでした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東方とまほらま、両クランの人材で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に挑みました。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ガチリーグでも十分に戦えるポテンシャルがあることがわかりましたね。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そろそろ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後の体制について考えねばなりません。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東方勢とまほらま勢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参戦メンバー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B50CBF-7D2D-F942-9D73-50097E2C8CDA}"/>
              </a:ext>
            </a:extLst>
          </p:cNvPr>
          <p:cNvSpPr/>
          <p:nvPr/>
        </p:nvSpPr>
        <p:spPr>
          <a:xfrm>
            <a:off x="984069" y="1690686"/>
            <a:ext cx="5033554" cy="390021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・きむきむ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kumimoji="1" lang="en-US" altLang="ja-JP" sz="2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・ふるはた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・ロッタ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CD44D34-E1FC-2546-B353-8EEE0419D512}"/>
              </a:ext>
            </a:extLst>
          </p:cNvPr>
          <p:cNvSpPr/>
          <p:nvPr/>
        </p:nvSpPr>
        <p:spPr>
          <a:xfrm>
            <a:off x="6152608" y="1690687"/>
            <a:ext cx="5044438" cy="3900216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・ひこにゃん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・魔王様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・くい助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・黒桜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2175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まほらまがここまで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善戦できている、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そもそも参戦できているのも東方さんの力が大きい。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だけど、それは「まほらまとしての活動」になっている。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結果的に、まほらまばかりに日が当たり、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東方さんを日陰に追いやっている感が強い。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2017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ズルズルとこのままの体制を続けた場合、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前述したメンバー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以外にも、今後、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東方の中核メンバーがまほらまに流出するのが予想される。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具体的な名前を挙げると、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トビさん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 あたりのガチ思考の方々は怪しい。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結果的に東方さんを潰すことになりうる。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では、どうしていくのか？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69915"/>
          </a:xfrm>
        </p:spPr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2614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東方、まほらま、それぞれ元に戻る作戦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もともと曖昧な立ち位置の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魔王様、くい助さん、黒桜さんに関しては別途相談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両クランの文化や歴史や方針を尊重することができる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東方、まほらま、共にガチリーグに参戦することはできなくなる。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人数足りなくなるわ。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東方のガチ思考メンバーが流出する可能性が高い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ガチ戦の楽しさを知った人が危ない。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東方さんのクラン方針をガチにしない限り防げない案件。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31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思い浮かばない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ガチ思考メンバーが流出する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東方のクラン方針がゆるふわなので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37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合理的ではある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まほらまは、ガチとゆるふわの両方に対応しているクランなので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受け入れ自体は可能です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この選択肢は合理的ではありますが、やめましょう。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感情と歴史は大切にしましょう。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0208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東方＆まほらまで新規クランを立ち上げる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図 7" descr="ゲームの画面&#10;&#10;低い精度で自動的に生成された説明">
            <a:extLst>
              <a:ext uri="{FF2B5EF4-FFF2-40B4-BE49-F238E27FC236}">
                <a16:creationId xmlns:a16="http://schemas.microsoft.com/office/drawing/2014/main" id="{0EB16213-E71B-9E4C-85F4-13E0CE9B6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3" y="2339712"/>
            <a:ext cx="3013080" cy="2894142"/>
          </a:xfrm>
          <a:prstGeom prst="rect">
            <a:avLst/>
          </a:prstGeom>
        </p:spPr>
      </p:pic>
      <p:pic>
        <p:nvPicPr>
          <p:cNvPr id="6" name="図 5" descr="テキスト&#10;&#10;自動的に生成された説明">
            <a:extLst>
              <a:ext uri="{FF2B5EF4-FFF2-40B4-BE49-F238E27FC236}">
                <a16:creationId xmlns:a16="http://schemas.microsoft.com/office/drawing/2014/main" id="{93D655CF-5017-DF46-A0B2-F4DFAE9ADF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693" y="2530638"/>
            <a:ext cx="3793779" cy="2486172"/>
          </a:xfrm>
          <a:prstGeom prst="rect">
            <a:avLst/>
          </a:prstGeom>
        </p:spPr>
      </p:pic>
      <p:pic>
        <p:nvPicPr>
          <p:cNvPr id="9" name="図 8" descr="テキスト&#10;&#10;自動的に生成された説明">
            <a:extLst>
              <a:ext uri="{FF2B5EF4-FFF2-40B4-BE49-F238E27FC236}">
                <a16:creationId xmlns:a16="http://schemas.microsoft.com/office/drawing/2014/main" id="{9ECAAA69-8A74-C64D-AB77-A3DE8630A8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744" y="2339712"/>
            <a:ext cx="4196347" cy="1506381"/>
          </a:xfrm>
          <a:prstGeom prst="rect">
            <a:avLst/>
          </a:prstGeom>
        </p:spPr>
      </p:pic>
      <p:pic>
        <p:nvPicPr>
          <p:cNvPr id="11" name="図 10" descr="テキスト, 手紙&#10;&#10;自動的に生成された説明">
            <a:extLst>
              <a:ext uri="{FF2B5EF4-FFF2-40B4-BE49-F238E27FC236}">
                <a16:creationId xmlns:a16="http://schemas.microsoft.com/office/drawing/2014/main" id="{CBA8ED04-A7C2-1B4D-B703-C954C42AF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744" y="3578670"/>
            <a:ext cx="4196348" cy="151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52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あっちゃんが思っている形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ガチメンバーたちで新規クランに集まる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、強い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の方々も少し在籍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まほらま本部、東方さんの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以下の方々は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どこかで固まって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形は要相談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育成メインで活動する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残ったまほらま＆東方の運営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クラゲや援軍やチャット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キツくなると予想されるので、そのケアとして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or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東方で固まると良いのではないか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26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案５より一体感あり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新規クランのレベル上げが面倒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を使う案もあるが、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平等感が無くなってしまう、悩みどころ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0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ファミリークラン化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目的に応じて頻繁に移動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とする、例えば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報酬目当て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→まほらま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援軍・クランゲーム→助け合う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SAKURA</a:t>
            </a: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みたいな感じとか。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くい助さんや魔王様が普段やっていることに近いかな。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それを明確にするってことだけか。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7881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良くも悪くも現状維持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リーダーが複数になる。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あっちゃんひこにゃんさん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「船頭多くして船山に登る」に注意が必要。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クラン運営の複雑化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外部から見ると訳分からんことになる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370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参加メンバー：ひこにゃん、魔王様、だい、ころ助、ほもの助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オブザーバー：マクス、ゆうフラ、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東方日陰問題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は気にしているが東方メンバーはさほど気にしてないと思う。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くい助さんからもそのような趣旨チャットあり。そんな気にしなくて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東方中核メンバー流出問題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→ありえる感じ。ご本人たち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に軽く確認したところ、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もし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声掛けられたら、どのような判断になるかは分からないとのこと。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のときにファーミングが十分じゃない可能性もあるし、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ガチ戦へのモチベーション次第なところはある。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案１：それぞれの道をいく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楽しかった、参加できなくなる。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→無し。無理とのこと。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→問題点１を気にしてないから有りっちゃ有りなんだよねとのこと。まじか。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想定外・・・感情的なところもあるだろうし、口に出しづらいこともあるだろうから議論を切り上げ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4264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案４：新規立ち上げ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→１から作り上げることに楽しさはあるかも、といった意見はあり。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ひこにゃんさん、チャットにて若干趣旨は変わるかもだけどくい助さんもかな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ただしクランレベルがネック。特に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になった後は、ヒーロー問題で対戦に出ない人もいるだろうから、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クランレベル低いままが長く続くよね。実益を考えるとあまり嬉しくない。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→だったら 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や他支部使う？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→それだったら思い切って案３でも良い気もする。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→議論切り上げ。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→リーグは多分マスター１あたりから開始されるから気にしなくて良い。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→新規クラン立ち上げた後の残された側の運営が何とかなるのか、やはり気になる。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→まほらまと東方で助け合う形になるのだろうけど、そこらへんはあっちゃんの手腕次第なところ。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案５：ファミリークラン化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→実は今回の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体制であまり困ってないんだよね。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さんは流出しちゃいそうだけど、東方として楽しかったし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なので、実質この案で良いんすわ。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→ファミリークラン化することに関しては、既にファミリークランである東方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との兼ね合いはある。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→ファミリークラン化は、まほらま東方の立場を平等にするのが目的なだけなので、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問題点１を気にしていない場合は無理にする必要はない気はする。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→この案で考える。これから詳細を詰めていく。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オフ中の話だったり、リーグ戦だったり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28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【4/2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時点の結論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東方の意見としては、現状維持気味の案５が良さそう。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もうすぐ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のアップデートがある。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それで大きなシステム変更がある可能性もあるから、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それを踏まえてもっかい東方としての結論は出したい。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4/10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追記：クランシステム系のアップデートはなさそうなので案５で考えたい。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証拠議事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大事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ゆうフラさん、次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の参戦は前向きに考えても良いとのこと。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を留守にすると運営マズイことになるが、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３ヶ月の間、２週間に１戦程度ならばいけるのでは。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3204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案５で進んでいくと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思いきや・・・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3180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案４：新規クラン立ち上げについてもう一回考えたいなー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案５だと現状維持にはなるけど、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ファーミングが終わったタイミングで、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東方主要メンバーはガチ戦やりたくなって崩壊するのは目に見えている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ひこにゃんさんもリーダー責務と東方体制に疲れてきている、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幕を下ろす良いタイミングなのかもしれない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そして新規クランでゼロからやっていくのも楽しそうなんだよね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だが、案４でいくと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新規クランに移動する人以外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具体的には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以下の人たち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切り捨てみたいな感じになってしまう気がするので悩み中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626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どうやら、ひこにゃんさんは背中を押してほしいようだ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9351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ならば背中を押す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6" name="図 5" descr="グラフィカル ユーザー インターフェイス, テキスト&#10;&#10;自動的に生成された説明">
            <a:extLst>
              <a:ext uri="{FF2B5EF4-FFF2-40B4-BE49-F238E27FC236}">
                <a16:creationId xmlns:a16="http://schemas.microsoft.com/office/drawing/2014/main" id="{9115A0B9-D3D5-8440-99F4-1310B3AAB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09" y="1252434"/>
            <a:ext cx="10331381" cy="4982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5832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案４：新規クラン立ち上げ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を進めたい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合併したい理由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というイベントでリーグ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位まで行けたのは東方さんの力が大きいのに今後も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『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』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として出て良いのか？コレがスタートであり、今も大部分を占める理由です。東方メンバーの方々は「気にしなくて良い」と言ってくれましたがイヤです。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なので、まほらまメンバーには自分のワガママで合併する事になります。ただ、全員納得してくれると信じています。これは俺について来てくれるかどうかではなく、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の空気を感じたみんなが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「確かに東方さんと合併したら面白いことになりそう！」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と思ってくれると確信してるからです。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8401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あっちゃんが新クラン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のリーダーをやらない理由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できれば交代したい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理由はリアルの都合もあるが、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一番の理由は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『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強いチームになって欲しい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』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から。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リーダーが一番強い必要はないが、多少の実力はないといけない。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俺がリーダーをやる場合、先の未来で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『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あともう一踏ん張りで栄光を勝ちとれるという所で負ける。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』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そんな気がする。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24877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まほらまの名前と伝統は良いのか？ 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ガワと過去は気にしない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確かに思い入れはあるが、今いるメンツとより高みへ行けるなら良い。そして、東方さんとの合併にそれくらいの価値を見出している。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ガッチガチの軍団になれ！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という訳ではなく、今の雰囲気のままがベストだと思っている。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5563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(2021/04/18)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ここまで恩着せがましいことばかりなので損得についてなども。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東方さんが居ないとイベントに参加すること自体が難しい。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まほらまでは次の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までにカンスト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10〜15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人集めることさえ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難しい状況。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ましてや、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で好成績をおさめるのは不可能。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結局、東方さんの力が必要になる。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東方さんは「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はまほらまでしか出ない」と言ってくれているが、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この先、何が起こるかわからない。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なので、合併すると、まほらまメンバーは安定してイベントに参加。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かつ、栄光に近づける。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35301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両クランのトップが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新規クラン立ち上げ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で合意した。進めようか。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6602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具体的な話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4405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0F1F0F5-1E6C-874F-886F-701786DF7272}"/>
              </a:ext>
            </a:extLst>
          </p:cNvPr>
          <p:cNvSpPr/>
          <p:nvPr/>
        </p:nvSpPr>
        <p:spPr>
          <a:xfrm>
            <a:off x="5286345" y="1380921"/>
            <a:ext cx="6180667" cy="4767556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200" dirty="0">
                <a:solidFill>
                  <a:schemeClr val="bg1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組織変更ざっくり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7F5F2E3-BE55-D247-974D-715C18D48C31}"/>
              </a:ext>
            </a:extLst>
          </p:cNvPr>
          <p:cNvSpPr/>
          <p:nvPr/>
        </p:nvSpPr>
        <p:spPr>
          <a:xfrm>
            <a:off x="951412" y="1380921"/>
            <a:ext cx="3142622" cy="232238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本部、桜支部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en-US" altLang="ja-JP" sz="16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ABE4BD0-C2A1-5E41-AF30-DDBAEF02A3CC}"/>
              </a:ext>
            </a:extLst>
          </p:cNvPr>
          <p:cNvSpPr/>
          <p:nvPr/>
        </p:nvSpPr>
        <p:spPr>
          <a:xfrm>
            <a:off x="939850" y="3826092"/>
            <a:ext cx="3149417" cy="232238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(16)</a:t>
            </a:r>
            <a:endParaRPr lang="en-US" altLang="ja-JP" sz="16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algn="ctr"/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0B0997F0-A49B-424C-8039-D5537CDF004E}"/>
              </a:ext>
            </a:extLst>
          </p:cNvPr>
          <p:cNvSpPr/>
          <p:nvPr/>
        </p:nvSpPr>
        <p:spPr>
          <a:xfrm>
            <a:off x="1147791" y="1879167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82EBB42A-B756-D94A-BABF-F937A82FAD18}"/>
              </a:ext>
            </a:extLst>
          </p:cNvPr>
          <p:cNvSpPr/>
          <p:nvPr/>
        </p:nvSpPr>
        <p:spPr>
          <a:xfrm>
            <a:off x="1147789" y="2459146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8A043FC6-E660-0D42-9B2F-81E58F69DE0E}"/>
              </a:ext>
            </a:extLst>
          </p:cNvPr>
          <p:cNvSpPr/>
          <p:nvPr/>
        </p:nvSpPr>
        <p:spPr>
          <a:xfrm>
            <a:off x="1147789" y="3039125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EA24A44D-BC10-AA4E-8994-F71F02050A9B}"/>
              </a:ext>
            </a:extLst>
          </p:cNvPr>
          <p:cNvSpPr/>
          <p:nvPr/>
        </p:nvSpPr>
        <p:spPr>
          <a:xfrm>
            <a:off x="1147789" y="4270604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776A7B72-1651-8244-BDAB-F2089293C859}"/>
              </a:ext>
            </a:extLst>
          </p:cNvPr>
          <p:cNvSpPr/>
          <p:nvPr/>
        </p:nvSpPr>
        <p:spPr>
          <a:xfrm>
            <a:off x="1147787" y="4850583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FA2B4284-7878-9D4C-8977-5D5CC9D3D1C0}"/>
              </a:ext>
            </a:extLst>
          </p:cNvPr>
          <p:cNvSpPr/>
          <p:nvPr/>
        </p:nvSpPr>
        <p:spPr>
          <a:xfrm>
            <a:off x="1147787" y="5430562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4" name="右矢印 23">
            <a:extLst>
              <a:ext uri="{FF2B5EF4-FFF2-40B4-BE49-F238E27FC236}">
                <a16:creationId xmlns:a16="http://schemas.microsoft.com/office/drawing/2014/main" id="{11DDD6C5-B885-C147-8430-0962103B5D70}"/>
              </a:ext>
            </a:extLst>
          </p:cNvPr>
          <p:cNvSpPr/>
          <p:nvPr/>
        </p:nvSpPr>
        <p:spPr>
          <a:xfrm>
            <a:off x="4207267" y="3314293"/>
            <a:ext cx="978408" cy="809614"/>
          </a:xfrm>
          <a:prstGeom prst="right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5499050" y="1806325"/>
            <a:ext cx="5741537" cy="15689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en-US" altLang="ja-JP" sz="16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BE24FFA8-17F4-9B4B-85BA-EA19FA94FED1}"/>
              </a:ext>
            </a:extLst>
          </p:cNvPr>
          <p:cNvSpPr/>
          <p:nvPr/>
        </p:nvSpPr>
        <p:spPr>
          <a:xfrm>
            <a:off x="5785105" y="2244941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角丸四角形 26">
            <a:extLst>
              <a:ext uri="{FF2B5EF4-FFF2-40B4-BE49-F238E27FC236}">
                <a16:creationId xmlns:a16="http://schemas.microsoft.com/office/drawing/2014/main" id="{AD19C939-D059-4F47-BF39-BDEB350E1492}"/>
              </a:ext>
            </a:extLst>
          </p:cNvPr>
          <p:cNvSpPr/>
          <p:nvPr/>
        </p:nvSpPr>
        <p:spPr>
          <a:xfrm>
            <a:off x="5785105" y="2787221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DFFFC2D-38D3-914A-B351-0D6A71717C09}"/>
              </a:ext>
            </a:extLst>
          </p:cNvPr>
          <p:cNvSpPr/>
          <p:nvPr/>
        </p:nvSpPr>
        <p:spPr>
          <a:xfrm>
            <a:off x="5499049" y="3461977"/>
            <a:ext cx="5741537" cy="26253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 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en-US" altLang="ja-JP" sz="1200" b="1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1200" b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</a:t>
            </a:r>
            <a:r>
              <a:rPr kumimoji="1" lang="ja-JP" altLang="en-US" sz="1200" b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新クラン</a:t>
            </a:r>
            <a:r>
              <a:rPr lang="ja-JP" altLang="en-US" sz="1200" b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になります、摩天楼は借り物です</a:t>
            </a:r>
            <a:endParaRPr kumimoji="1" lang="en-US" altLang="ja-JP" sz="1200" b="1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F5D9E317-34C1-6A45-AAF0-E609591BF49E}"/>
              </a:ext>
            </a:extLst>
          </p:cNvPr>
          <p:cNvSpPr/>
          <p:nvPr/>
        </p:nvSpPr>
        <p:spPr>
          <a:xfrm>
            <a:off x="5785104" y="4069561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C7FA3089-AFBB-0749-89C5-F3F53FFD1C5C}"/>
              </a:ext>
            </a:extLst>
          </p:cNvPr>
          <p:cNvSpPr/>
          <p:nvPr/>
        </p:nvSpPr>
        <p:spPr>
          <a:xfrm>
            <a:off x="5785104" y="4464870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B470A90E-C488-F34B-AC66-F1C95DE2DC13}"/>
              </a:ext>
            </a:extLst>
          </p:cNvPr>
          <p:cNvSpPr/>
          <p:nvPr/>
        </p:nvSpPr>
        <p:spPr>
          <a:xfrm>
            <a:off x="5785103" y="4870246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4" name="角丸四角形 33">
            <a:extLst>
              <a:ext uri="{FF2B5EF4-FFF2-40B4-BE49-F238E27FC236}">
                <a16:creationId xmlns:a16="http://schemas.microsoft.com/office/drawing/2014/main" id="{370A3D1A-48D2-5747-B02C-774911172AE5}"/>
              </a:ext>
            </a:extLst>
          </p:cNvPr>
          <p:cNvSpPr/>
          <p:nvPr/>
        </p:nvSpPr>
        <p:spPr>
          <a:xfrm>
            <a:off x="5785103" y="5265555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E60A03D5-46FB-0A40-92C5-29B98A5BE4A4}"/>
              </a:ext>
            </a:extLst>
          </p:cNvPr>
          <p:cNvSpPr/>
          <p:nvPr/>
        </p:nvSpPr>
        <p:spPr>
          <a:xfrm>
            <a:off x="5785102" y="5670931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以上援軍送り勢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(TOMARIGI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運営陣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6" name="図 5" descr="部屋, シーン, 挿絵 が含まれている画像&#10;&#10;自動的に生成された説明">
            <a:extLst>
              <a:ext uri="{FF2B5EF4-FFF2-40B4-BE49-F238E27FC236}">
                <a16:creationId xmlns:a16="http://schemas.microsoft.com/office/drawing/2014/main" id="{C3AB7D7E-A004-D94B-8150-4F1665923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3716" y="983328"/>
            <a:ext cx="1053740" cy="105374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002766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組織変更するための段取り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２つの新クランのリーダーをそれぞれ決める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２つの新クランの方針を明確する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具体的な移行計画を立てる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まほらまメンバー、東方メンバーへの展開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組織変更実施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月頃からゆるりと予定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>
              <a:buFont typeface="+mj-lt"/>
              <a:buAutoNum type="arabicPeriod"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66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1251"/>
            <a:ext cx="10515600" cy="1325563"/>
          </a:xfrm>
        </p:spPr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全体について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名前の由来は「とまり木」です。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クランメンバーの皆さんを鳥に例えて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しっかりと活動できる環境を与えられる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クランを目指していきます。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以下２つのクランで構成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アクティブクラン「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ファーミングクラン「まほらま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7" name="図 6" descr="飛ぶ, 飛行機, 空気, ブルー が含まれている画像&#10;&#10;自動的に生成された説明">
            <a:extLst>
              <a:ext uri="{FF2B5EF4-FFF2-40B4-BE49-F238E27FC236}">
                <a16:creationId xmlns:a16="http://schemas.microsoft.com/office/drawing/2014/main" id="{84477A43-8877-104A-B4EC-D59130025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518" y="1184660"/>
            <a:ext cx="4338844" cy="254627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841464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TOMARIGI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のアクティブ勢で集まる</a:t>
            </a:r>
            <a:r>
              <a:rPr lang="ja-JP" altLang="en-US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以下の希望者は要相談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オンリー化する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月予定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高いモチベーションの人にとって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”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居心地の良いクランであること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強いクランであること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10154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クラン「まほらま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概要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ファーミング勢で集まる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帯は問わない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将来的に新規クランに移行する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まほらまは仮宿です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方針、目指すクランの姿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安心してファーミングできるクランであること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1784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新体制への変更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タイミング：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月リーグが終わり次第、移行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振り分け案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まほらま側：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</a:t>
            </a:r>
            <a:r>
              <a:rPr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https://docs.google.com/spreadsheets/d/1JeL2rHp4XRQvi1ME64ftFnnHtRyTQAxk/edit</a:t>
            </a:r>
            <a:endParaRPr lang="en-US" altLang="ja-JP" sz="1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東方側：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</a:t>
            </a:r>
            <a:r>
              <a:rPr lang="en-US" altLang="ja-JP" sz="1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https://docs.google.com/spreadsheets/d/1yLqrO2bvNzGSbJC3JD5YCJoLRXsjitGWwS4C0eiNtQI/edit?usp=sharing</a:t>
            </a:r>
            <a:endParaRPr lang="en-US" altLang="ja-JP" sz="1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皆様ご確認ください。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目安になりますので、変更希望がある場合は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お気軽に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4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まで連絡ください。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74718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以上です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62771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以降のページはボツ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2513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結ぶの具体的な話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7B9943-FA08-584F-B4AA-C0A6110D0F29}"/>
              </a:ext>
            </a:extLst>
          </p:cNvPr>
          <p:cNvSpPr/>
          <p:nvPr/>
        </p:nvSpPr>
        <p:spPr>
          <a:xfrm>
            <a:off x="444137" y="369024"/>
            <a:ext cx="11225349" cy="53013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024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的にファミリークランを謳うか？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謳わない。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東方でも東方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というクランが存在しており、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両クランは協力関係にある。そこの関係性が崩れる危険性も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無きにしもあらずなので謳わない。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補足：この資料で「東方」と記載している場合、東方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を示す。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また、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の参戦における東方日陰問題に関しても、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東方メンバーの方々は特に気にしていないようなので、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対外的にファミリークランを謳って知名度を上げる必要性も低い。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外部からややこしく見られるし・・・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なので、東方＆まほらま間ではファミリークランは謳わずに、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「お互い仲良くしています」という関係性に留める形とする。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CDFB72-43E8-F141-B69D-99DBB5E9EAFE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651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基本的な考え方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4F5B0D1-8C9D-9D42-B067-7A4669BE58FD}"/>
              </a:ext>
            </a:extLst>
          </p:cNvPr>
          <p:cNvSpPr/>
          <p:nvPr/>
        </p:nvSpPr>
        <p:spPr>
          <a:xfrm>
            <a:off x="1567549" y="2160734"/>
            <a:ext cx="4824550" cy="228716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特に無し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8C00CC0-6B48-4045-BD99-69FA1E70773E}"/>
              </a:ext>
            </a:extLst>
          </p:cNvPr>
          <p:cNvSpPr/>
          <p:nvPr/>
        </p:nvSpPr>
        <p:spPr>
          <a:xfrm>
            <a:off x="1567549" y="4502331"/>
            <a:ext cx="4824550" cy="162020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9C7DC49-C989-D74E-A020-00DA984420CF}"/>
              </a:ext>
            </a:extLst>
          </p:cNvPr>
          <p:cNvSpPr/>
          <p:nvPr/>
        </p:nvSpPr>
        <p:spPr>
          <a:xfrm>
            <a:off x="6453052" y="2160734"/>
            <a:ext cx="4824550" cy="228716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東方→まほらま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6B27419-B781-A14F-80D2-6313A2C2881C}"/>
              </a:ext>
            </a:extLst>
          </p:cNvPr>
          <p:cNvSpPr/>
          <p:nvPr/>
        </p:nvSpPr>
        <p:spPr>
          <a:xfrm>
            <a:off x="6453052" y="4502331"/>
            <a:ext cx="4824550" cy="162020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b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戦はリーグ期間中無し前提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C2E1EB-35D1-AD43-9655-DF1B6D634622}"/>
              </a:ext>
            </a:extLst>
          </p:cNvPr>
          <p:cNvSpPr/>
          <p:nvPr/>
        </p:nvSpPr>
        <p:spPr>
          <a:xfrm>
            <a:off x="1567549" y="1593081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5BF9ECA-4F8D-1046-84C0-EBFA7381A2A1}"/>
              </a:ext>
            </a:extLst>
          </p:cNvPr>
          <p:cNvSpPr/>
          <p:nvPr/>
        </p:nvSpPr>
        <p:spPr>
          <a:xfrm>
            <a:off x="6453052" y="1588575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83BD44-2332-AE4B-9EC5-7F2F660BD415}"/>
              </a:ext>
            </a:extLst>
          </p:cNvPr>
          <p:cNvSpPr/>
          <p:nvPr/>
        </p:nvSpPr>
        <p:spPr>
          <a:xfrm>
            <a:off x="914398" y="2160734"/>
            <a:ext cx="592198" cy="228716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96A6077-E02E-0943-9519-ED542C077AD5}"/>
              </a:ext>
            </a:extLst>
          </p:cNvPr>
          <p:cNvSpPr/>
          <p:nvPr/>
        </p:nvSpPr>
        <p:spPr>
          <a:xfrm>
            <a:off x="914398" y="4502331"/>
            <a:ext cx="592198" cy="162020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DE4E701-3E82-3144-AD31-FBD6FF142C97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535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両クランとも自立できているので協力体制は不要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なはず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東方メンバーではあるが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まほらまで活動してくれていた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魔王様・くい助さん・黒桜さんに関しては、今まで通り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まほらまにて活動いただく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さんに関しては要相談とする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259F8B7-AC78-7C4B-9A64-954D61175594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370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チャンピオンリーグで戦っている東方は、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最高タウンホール帯のガチメンバーが不足している。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不足分をまほらまで募りリーグ期間中、東方に応援にいく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メンバーはそのときによる。ハンターさんやふるさんやロッタさんや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逆に東方メンバーでリーグに出れない方の受け入れをまほらまで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実施するのも良い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ただしメダル目当て星８交代制を受け入れてくれる方に限る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FF7588A-2A07-C94D-8C32-2D2D1E22DBC3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115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東方はまほらまをサポートする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</a:t>
            </a:r>
            <a: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参戦者は、期間中、まほらまで活動していただく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ルール上、まほらまでの活動実績が必要になるので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ただし、東方リーダーのひこにゃんさんに関しては、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クラン運営の関係で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戦以外は東方で活動する。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もし、東方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のゆうフラさんが参戦してくれる場合もこれに該当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ひこにゃんさんと相談事項：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だいさん、ころ助さん、トビダシさんに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参戦いただく場合・・・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6839A9E-26B6-1645-9B78-815B84EDA0C8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080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リーグ戦期間」と同様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CAB5A04-6F86-AE4E-907F-190885D28A4B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830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援軍やクラゲ応援が必要な場合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discord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でやりとりして柔軟に対応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まほらまが海外リーグに挑戦する場合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要相談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東方を行き来するメンバー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→「郷に入れば郷に従え」をしっかり意識すること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まほらまルール：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http://mah0rama.livedoor.blog/archives/20951053.html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東方ルール：クラン説明参照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AD481A6-5A82-8C46-8022-E6F29848F0CC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936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1936</TotalTime>
  <Words>3487</Words>
  <Application>Microsoft Macintosh PowerPoint</Application>
  <PresentationFormat>ワイド画面</PresentationFormat>
  <Paragraphs>280</Paragraphs>
  <Slides>45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45</vt:i4>
      </vt:variant>
    </vt:vector>
  </HeadingPairs>
  <TitlesOfParts>
    <vt:vector size="52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東方とまほらまの 今後について </vt:lpstr>
      <vt:lpstr>JWCお疲れさまでした</vt:lpstr>
      <vt:lpstr>東方勢とまほらま勢(JWC参戦メンバー)</vt:lpstr>
      <vt:lpstr>あっちゃんの危惧(問題点１)</vt:lpstr>
      <vt:lpstr>bigtreeの危惧(問題点２)</vt:lpstr>
      <vt:lpstr>では、どうしていくのか？ </vt:lpstr>
      <vt:lpstr>案１、それぞれの道を行こう 案２、クラン吸収合併(東方←まほらま) 案３、クラン吸収合併(まほらま←東方) 案４、新規クラン立ち上げ 案５、東方＆まほらまで協力関係を結ぶ</vt:lpstr>
      <vt:lpstr>案１、それぞれの道を行こう</vt:lpstr>
      <vt:lpstr>案１、それぞれの道を行こう</vt:lpstr>
      <vt:lpstr>案２、クラン吸収合併(東方←まほらま)</vt:lpstr>
      <vt:lpstr>案３、クラン吸収合併(まほらま←東方)</vt:lpstr>
      <vt:lpstr>案４、新規クラン立ち上げ</vt:lpstr>
      <vt:lpstr>案４、新規クラン立ち上げ</vt:lpstr>
      <vt:lpstr>案４、新規クラン立ち上げ</vt:lpstr>
      <vt:lpstr>案５、東方＆まほらまで協力関係を結ぶ</vt:lpstr>
      <vt:lpstr>案５、東方＆まほらまで協力関係を結ぶ</vt:lpstr>
      <vt:lpstr>東方での話し合い (2021/04/02)</vt:lpstr>
      <vt:lpstr>東方での話し合い (2021/04/02)</vt:lpstr>
      <vt:lpstr>東方での話し合い (2021/04/02)</vt:lpstr>
      <vt:lpstr>案５で進んでいくと 思いきや・・・ </vt:lpstr>
      <vt:lpstr>ひこにゃんさんの想い (2021/04/11)</vt:lpstr>
      <vt:lpstr>どうやら、ひこにゃんさんは背中を押してほしいようだ (案４で)</vt:lpstr>
      <vt:lpstr>ならば背中を押す (2021/04/11)</vt:lpstr>
      <vt:lpstr>あっちゃんの想い (2021/04/18)</vt:lpstr>
      <vt:lpstr>あっちゃんの想い (2021/04/18)</vt:lpstr>
      <vt:lpstr>あっちゃんの想い (2021/04/18)</vt:lpstr>
      <vt:lpstr>あっちゃんの想い (2021/04/18)</vt:lpstr>
      <vt:lpstr>両クランのトップが 新規クラン立ち上げ(合併) で合意した。進めようか。</vt:lpstr>
      <vt:lpstr>新規クラン立ち上げ 具体的な話 </vt:lpstr>
      <vt:lpstr>組織変更ざっくり</vt:lpstr>
      <vt:lpstr>組織変更するための段取り</vt:lpstr>
      <vt:lpstr>TOMARIGI 全体について</vt:lpstr>
      <vt:lpstr>クラン「TOMARIGI」</vt:lpstr>
      <vt:lpstr>クラン「まほらま〜摩天楼〜」</vt:lpstr>
      <vt:lpstr>新体制への変更</vt:lpstr>
      <vt:lpstr>以上です </vt:lpstr>
      <vt:lpstr>以降のページはボツ </vt:lpstr>
      <vt:lpstr>案５、 東方＆まほらまで協力関係を 結ぶの具体的な話 </vt:lpstr>
      <vt:lpstr>対外的にファミリークランを謳うか？</vt:lpstr>
      <vt:lpstr>基本的な考え方</vt:lpstr>
      <vt:lpstr>①JWCオフシーズン×野良戦期間</vt:lpstr>
      <vt:lpstr>②JWCオフシーズン×リーグ期間</vt:lpstr>
      <vt:lpstr>③JWCオンシーズン×野良戦期間</vt:lpstr>
      <vt:lpstr>④JWCオンシーズン×リーグ期間</vt:lpstr>
      <vt:lpstr>その他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354</cp:revision>
  <dcterms:created xsi:type="dcterms:W3CDTF">2017-03-02T10:44:30Z</dcterms:created>
  <dcterms:modified xsi:type="dcterms:W3CDTF">2021-04-26T14:11:09Z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